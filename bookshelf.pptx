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BookShelf is a simple personal book collection manager; the real subject of this talk is the DevOps platform around it — how code goes from a commit to a running, monitored, self-healing deployment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intentionally simple so the focus stays on the platform. Three tiers: React frontend behind Nginx, FastAPI backend exposing CRUD endpoints plus /health and /metrics, and PostgreSQL with versioned Alembic migrations. Screenshot is the app running locally via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push to main triggers GitHub Actions: tests, frontend build, Docker build and push to GHCR with the commit SHA as the tag, then a Trivy scan. Argo CD watches the repo and reconciles the Helm chart into the EKS cluster that Terraform created. Prometheus and Grafana run in the cluster for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stack, one tool per responsibility. Mention versions only if asked: Python 3.12, React 18, PostgreSQL 16, Kubernetes 1.30, Argo CD 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 with HTTPX's test client against FastAPI. conftest.py swaps the Postgres engine for an in-memory SQLite database so tests are fast and isolated. Eight cases cover health check, create, list, filter by status, get, get-not-found, update and delete. In CI the test job runs first; if it fails, nothing downstream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Dockerfiles. Backend: slim Python base, creates a non-root user so a container breakout doesn't land as root. Frontend: multi-stage build so Node and build tools never ship; only static files plus Nginx. docker-compose brings up frontend, backend and Postgres with one command for local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lives at .github/workflows/ci.yml and triggers on push to main. test and build-frontend run in parallel; build-and-push needs both to pass; security-scan runs after the images exist. The first full run took about five minutes. The SHA tag means images are immutable — no "latest"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(aquasecurity/trivy-action) scans the backend and frontend images pulled from GHCR, filtering for HIGH and CRITICAL. The scan uses exit-code 1 with ignore-unfixed, so any HIGH or CRITICAL CVE that has a patch available fails the pipeline; CVEs with no fix yet are reported but don't block. One further improvement: run the scan before pushing so a vulnerable image never reaches the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vpc.tf creates the VPC, two public subnets in different availability zones, an internet gateway and route tables. eks.tf creates the EKS cluster on Kubernetes 1.30 and a managed node group on AL2023 t3.micro instances, plus the IAM roles. Lessons from the commit history: had to bump Kubernetes to 1.30 and switch the AMI type to AL2023 to match. Always terraform destroy afterwards — EKS bills hourly.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in bookshelf/helm/bookshelf templates every object; values.yaml holds the GHCR image paths, SHA tags, replica counts and resources, so one command deploys or upgrades the whole app. All services are ClusterIP; only the NGINX Ingress is exposed. Postgres uses emptyDir — fine for a demo, data is lost if the pod moves; a PersistentVolumeClaim with the EBS CSI driver is the production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bookshelf/k8s/argocd-application.yaml points Argo CD at the repo, path bookshelf/helm/bookshelf, targeting HEAD. Automated sync with prune and selfHeal means: if someone kubectl-edits or deletes a resource, Argo puts it back to match Git. Screenshot shows the app tree — services, deployments, replica sets, pods and ingress all Synced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expose, scrape, visualise. The backend uses prometheus-client to expose /metrics. Prometheus and Grafana are installed from their community Helm charts with values in bookshelf/monitoring; Grafana's datasource is pre-wired to the Prometheus service. The panel shows http_requests_total climbing for /health (probes) and /metrics (scrapes).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or two to tell as stories. The method is always the same: read the symptom from kubectl get pods, use describe or logs to find the cause, fix it in Git (values.yaml or the templates), and let Helm or Argo CD roll it out. The image path fix and the emptyDir switch both show up in the commit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session: cluster up, Argo CD and Grafana port-forwards open, browser tabs ready (repo, Actions, Argo CD, app). Step 1: change the subtitle text in frontend/src/App.jsx and push. Step 2: show the Actions run — about 5 minutes, so talk through the pipeline slide meanwhile. Step 3: copy the new commit SHA into helm/bookshelf/values.yaml image tags and push. Step 4: Argo CD detects the change, rolls out new pods; refresh the app to show the new subtitle. Backup: recorded walkthrough in case the cluster or Wi-Fi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gaps — graders appreciate knowing you see them. The Trivy scan runs after the push, the image tag in values.yaml is bumped by hand, Postgres uses emptyDir so data isn't persistent, and demo credentials live in values files.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A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1A2E"/>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A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1A2E"/>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8B7CF6"/>
          </a:solidFill>
          <a:ln/>
        </p:spPr>
      </p:sp>
      <p:sp>
        <p:nvSpPr>
          <p:cNvPr id="3" name="Text 1"/>
          <p:cNvSpPr/>
          <p:nvPr/>
        </p:nvSpPr>
        <p:spPr>
          <a:xfrm>
            <a:off x="812800" y="161805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A99CFA"/>
                </a:solidFill>
                <a:latin typeface="JetBrains Mono" pitchFamily="49" charset="0"/>
                <a:ea typeface="JetBrains Mono" pitchFamily="49" charset="-122"/>
                <a:cs typeface="JetBrains Mono" pitchFamily="49" charset="-120"/>
              </a:rPr>
              <a:t>DEVOPS FINAL CAPSTONE</a:t>
            </a:r>
            <a:endParaRPr lang="en-US" sz="1600" dirty="0"/>
          </a:p>
        </p:txBody>
      </p:sp>
      <p:sp>
        <p:nvSpPr>
          <p:cNvPr id="4" name="Text 2"/>
          <p:cNvSpPr/>
          <p:nvPr>
            <p:ph type="title"/>
          </p:nvPr>
        </p:nvSpPr>
        <p:spPr>
          <a:xfrm>
            <a:off x="812800" y="21565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5F4EF"/>
                </a:solidFill>
                <a:latin typeface="Space Grotesk" pitchFamily="34" charset="0"/>
                <a:ea typeface="Space Grotesk" pitchFamily="34" charset="-122"/>
                <a:cs typeface="Space Grotesk" pitchFamily="34" charset="-120"/>
              </a:rPr>
              <a:t>BookShelf</a:t>
            </a:r>
            <a:endParaRPr lang="en-US" sz="8000" dirty="0"/>
          </a:p>
        </p:txBody>
      </p:sp>
      <p:sp>
        <p:nvSpPr>
          <p:cNvPr id="5" name="Text 3"/>
          <p:cNvSpPr/>
          <p:nvPr/>
        </p:nvSpPr>
        <p:spPr>
          <a:xfrm>
            <a:off x="812800" y="3426520"/>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CD8"/>
                </a:solidFill>
                <a:latin typeface="IBM Plex Sans" pitchFamily="34" charset="0"/>
                <a:ea typeface="IBM Plex Sans" pitchFamily="34" charset="-122"/>
                <a:cs typeface="IBM Plex Sans" pitchFamily="34" charset="-120"/>
              </a:rPr>
              <a:t>An end-to-end cloud-native platform: from git push to a self-healing app on AWS EKS</a:t>
            </a:r>
            <a:endParaRPr lang="en-US" sz="2200" dirty="0"/>
          </a:p>
        </p:txBody>
      </p:sp>
      <p:sp>
        <p:nvSpPr>
          <p:cNvPr id="6" name="Text 4"/>
          <p:cNvSpPr/>
          <p:nvPr/>
        </p:nvSpPr>
        <p:spPr>
          <a:xfrm>
            <a:off x="812800" y="4406801"/>
            <a:ext cx="2865140" cy="365720"/>
          </a:xfrm>
          <a:prstGeom prst="roundRect">
            <a:avLst>
              <a:gd name="adj" fmla="val 50000"/>
            </a:avLst>
          </a:prstGeom>
          <a:solidFill>
            <a:srgbClr val="1E2540"/>
          </a:solidFill>
          <a:ln/>
        </p:spPr>
        <p:txBody>
          <a:bodyPr wrap="none" lIns="0" tIns="0" rIns="0" bIns="0" rtlCol="0" anchor="ctr">
            <a:normAutofit/>
          </a:bodyPr>
          <a:lstStyle/>
          <a:p>
            <a:pPr algn="ctr" indent="0" marL="0">
              <a:lnSpc>
                <a:spcPts val="1680"/>
              </a:lnSpc>
              <a:buNone/>
            </a:pPr>
            <a:r>
              <a:rPr lang="en-US" sz="1200" dirty="0">
                <a:solidFill>
                  <a:srgbClr val="F5F4EF"/>
                </a:solidFill>
                <a:latin typeface="JetBrains Mono" pitchFamily="49" charset="0"/>
                <a:ea typeface="JetBrains Mono" pitchFamily="49" charset="-122"/>
                <a:cs typeface="JetBrains Mono" pitchFamily="49" charset="-120"/>
              </a:rPr>
              <a:t>FastAPI · React · PostgreSQL</a:t>
            </a:r>
            <a:endParaRPr lang="en-US" sz="1200" dirty="0"/>
          </a:p>
        </p:txBody>
      </p:sp>
      <p:sp>
        <p:nvSpPr>
          <p:cNvPr id="7" name="Text 5"/>
          <p:cNvSpPr/>
          <p:nvPr/>
        </p:nvSpPr>
        <p:spPr>
          <a:xfrm>
            <a:off x="3779540" y="4406801"/>
            <a:ext cx="3139480" cy="365720"/>
          </a:xfrm>
          <a:prstGeom prst="roundRect">
            <a:avLst>
              <a:gd name="adj" fmla="val 50000"/>
            </a:avLst>
          </a:prstGeom>
          <a:solidFill>
            <a:srgbClr val="1E2540"/>
          </a:solidFill>
          <a:ln/>
        </p:spPr>
        <p:txBody>
          <a:bodyPr wrap="none" lIns="0" tIns="0" rIns="0" bIns="0" rtlCol="0" anchor="ctr">
            <a:normAutofit/>
          </a:bodyPr>
          <a:lstStyle/>
          <a:p>
            <a:pPr algn="ctr" indent="0" marL="0">
              <a:lnSpc>
                <a:spcPts val="1680"/>
              </a:lnSpc>
              <a:buNone/>
            </a:pPr>
            <a:r>
              <a:rPr lang="en-US" sz="1200" dirty="0">
                <a:solidFill>
                  <a:srgbClr val="F5F4EF"/>
                </a:solidFill>
                <a:latin typeface="JetBrains Mono" pitchFamily="49" charset="0"/>
                <a:ea typeface="JetBrains Mono" pitchFamily="49" charset="-122"/>
                <a:cs typeface="JetBrains Mono" pitchFamily="49" charset="-120"/>
              </a:rPr>
              <a:t>Docker · GitHub Actions · Trivy</a:t>
            </a:r>
            <a:endParaRPr lang="en-US" sz="1200" dirty="0"/>
          </a:p>
        </p:txBody>
      </p:sp>
      <p:sp>
        <p:nvSpPr>
          <p:cNvPr id="8" name="Text 6"/>
          <p:cNvSpPr/>
          <p:nvPr/>
        </p:nvSpPr>
        <p:spPr>
          <a:xfrm>
            <a:off x="7020620" y="4406801"/>
            <a:ext cx="3230959" cy="365720"/>
          </a:xfrm>
          <a:prstGeom prst="roundRect">
            <a:avLst>
              <a:gd name="adj" fmla="val 50000"/>
            </a:avLst>
          </a:prstGeom>
          <a:solidFill>
            <a:srgbClr val="1E2540"/>
          </a:solidFill>
          <a:ln/>
        </p:spPr>
        <p:txBody>
          <a:bodyPr wrap="none" lIns="0" tIns="0" rIns="0" bIns="0" rtlCol="0" anchor="ctr">
            <a:normAutofit/>
          </a:bodyPr>
          <a:lstStyle/>
          <a:p>
            <a:pPr algn="ctr" indent="0" marL="0">
              <a:lnSpc>
                <a:spcPts val="1680"/>
              </a:lnSpc>
              <a:buNone/>
            </a:pPr>
            <a:r>
              <a:rPr lang="en-US" sz="1200" dirty="0">
                <a:solidFill>
                  <a:srgbClr val="F5F4EF"/>
                </a:solidFill>
                <a:latin typeface="JetBrains Mono" pitchFamily="49" charset="0"/>
                <a:ea typeface="JetBrains Mono" pitchFamily="49" charset="-122"/>
                <a:cs typeface="JetBrains Mono" pitchFamily="49" charset="-120"/>
              </a:rPr>
              <a:t>Terraform · EKS · Helm · Argo CD</a:t>
            </a:r>
            <a:endParaRPr lang="en-US" sz="1200" dirty="0"/>
          </a:p>
        </p:txBody>
      </p:sp>
      <p:sp>
        <p:nvSpPr>
          <p:cNvPr id="9" name="Text 7"/>
          <p:cNvSpPr/>
          <p:nvPr/>
        </p:nvSpPr>
        <p:spPr>
          <a:xfrm>
            <a:off x="812800" y="4874121"/>
            <a:ext cx="2133600" cy="365720"/>
          </a:xfrm>
          <a:prstGeom prst="roundRect">
            <a:avLst>
              <a:gd name="adj" fmla="val 50000"/>
            </a:avLst>
          </a:prstGeom>
          <a:solidFill>
            <a:srgbClr val="1E2540"/>
          </a:solidFill>
          <a:ln/>
        </p:spPr>
        <p:txBody>
          <a:bodyPr wrap="none" lIns="0" tIns="0" rIns="0" bIns="0" rtlCol="0" anchor="ctr">
            <a:normAutofit/>
          </a:bodyPr>
          <a:lstStyle/>
          <a:p>
            <a:pPr algn="ctr" indent="0" marL="0">
              <a:lnSpc>
                <a:spcPts val="1680"/>
              </a:lnSpc>
              <a:buNone/>
            </a:pPr>
            <a:r>
              <a:rPr lang="en-US" sz="1200" dirty="0">
                <a:solidFill>
                  <a:srgbClr val="F5F4EF"/>
                </a:solidFill>
                <a:latin typeface="JetBrains Mono" pitchFamily="49" charset="0"/>
                <a:ea typeface="JetBrains Mono" pitchFamily="49" charset="-122"/>
                <a:cs typeface="JetBrains Mono" pitchFamily="49" charset="-120"/>
              </a:rPr>
              <a:t>Prometheus · Grafana</a:t>
            </a:r>
            <a:endParaRPr lang="en-US" sz="1200" dirty="0"/>
          </a:p>
        </p:txBody>
      </p:sp>
      <p:sp>
        <p:nvSpPr>
          <p:cNvPr id="10" name="Text 8"/>
          <p:cNvSpPr/>
          <p:nvPr/>
        </p:nvSpPr>
        <p:spPr>
          <a:xfrm>
            <a:off x="812800" y="6202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A1B5"/>
                </a:solidFill>
                <a:latin typeface="IBM Plex Sans" pitchFamily="34" charset="0"/>
                <a:ea typeface="IBM Plex Sans" pitchFamily="34" charset="-122"/>
                <a:cs typeface="IBM Plex Sans" pitchFamily="34" charset="-120"/>
              </a:rPr>
              <a:t>Sanjay Kumar · github.com/SanjayDesai10/Devops-Capstone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01 · THE APPLICATION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What BookShelf does</a:t>
            </a:r>
            <a:endParaRPr lang="en-US" sz="3600" dirty="0"/>
          </a:p>
        </p:txBody>
      </p:sp>
      <p:sp>
        <p:nvSpPr>
          <p:cNvPr id="4" name="Text 2"/>
          <p:cNvSpPr/>
          <p:nvPr/>
        </p:nvSpPr>
        <p:spPr>
          <a:xfrm>
            <a:off x="812800" y="1986161"/>
            <a:ext cx="41859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058"/>
                </a:solidFill>
                <a:latin typeface="IBM Plex Sans" pitchFamily="34" charset="0"/>
                <a:ea typeface="IBM Plex Sans" pitchFamily="34" charset="-122"/>
                <a:cs typeface="IBM Plex Sans" pitchFamily="34" charset="-120"/>
              </a:rPr>
              <a:t>A personal reading tracker: add books, rate them 1–5, and move them between </a:t>
            </a:r>
            <a:r>
              <a:rPr lang="en-US" sz="1600" b="1" dirty="0">
                <a:solidFill>
                  <a:srgbClr val="3A4058"/>
                </a:solidFill>
                <a:latin typeface="IBM Plex Sans" pitchFamily="34" charset="0"/>
                <a:ea typeface="IBM Plex Sans" pitchFamily="34" charset="-122"/>
                <a:cs typeface="IBM Plex Sans" pitchFamily="34" charset="-120"/>
              </a:rPr>
              <a:t>Wishlist</a:t>
            </a:r>
            <a:r>
              <a:rPr lang="en-US" sz="1600" dirty="0">
                <a:solidFill>
                  <a:srgbClr val="3A4058"/>
                </a:solidFill>
                <a:latin typeface="IBM Plex Sans" pitchFamily="34" charset="0"/>
                <a:ea typeface="IBM Plex Sans" pitchFamily="34" charset="-122"/>
                <a:cs typeface="IBM Plex Sans" pitchFamily="34" charset="-120"/>
              </a:rPr>
              <a:t>, </a:t>
            </a:r>
            <a:r>
              <a:rPr lang="en-US" sz="1600" b="1" dirty="0">
                <a:solidFill>
                  <a:srgbClr val="3A4058"/>
                </a:solidFill>
                <a:latin typeface="IBM Plex Sans" pitchFamily="34" charset="0"/>
                <a:ea typeface="IBM Plex Sans" pitchFamily="34" charset="-122"/>
                <a:cs typeface="IBM Plex Sans" pitchFamily="34" charset="-120"/>
              </a:rPr>
              <a:t>Reading</a:t>
            </a:r>
            <a:r>
              <a:rPr lang="en-US" sz="1600" dirty="0">
                <a:solidFill>
                  <a:srgbClr val="3A4058"/>
                </a:solidFill>
                <a:latin typeface="IBM Plex Sans" pitchFamily="34" charset="0"/>
                <a:ea typeface="IBM Plex Sans" pitchFamily="34" charset="-122"/>
                <a:cs typeface="IBM Plex Sans" pitchFamily="34" charset="-120"/>
              </a:rPr>
              <a:t> and </a:t>
            </a:r>
            <a:r>
              <a:rPr lang="en-US" sz="1600" b="1" dirty="0">
                <a:solidFill>
                  <a:srgbClr val="3A4058"/>
                </a:solidFill>
                <a:latin typeface="IBM Plex Sans" pitchFamily="34" charset="0"/>
                <a:ea typeface="IBM Plex Sans" pitchFamily="34" charset="-122"/>
                <a:cs typeface="IBM Plex Sans" pitchFamily="34" charset="-120"/>
              </a:rPr>
              <a:t>Completed</a:t>
            </a:r>
            <a:r>
              <a:rPr lang="en-US" sz="1600" dirty="0">
                <a:solidFill>
                  <a:srgbClr val="3A4058"/>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12800" y="3042741"/>
            <a:ext cx="4185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BD6"/>
                </a:solidFill>
                <a:latin typeface="IBM Plex Sans" pitchFamily="34" charset="0"/>
                <a:ea typeface="IBM Plex Sans" pitchFamily="34" charset="-122"/>
                <a:cs typeface="IBM Plex Sans" pitchFamily="34" charset="-120"/>
              </a:rPr>
              <a:t>React 18</a:t>
            </a:r>
            <a:r>
              <a:rPr lang="en-US" sz="1400" dirty="0">
                <a:solidFill>
                  <a:srgbClr val="3A4058"/>
                </a:solidFill>
                <a:latin typeface="IBM Plex Sans" pitchFamily="34" charset="0"/>
                <a:ea typeface="IBM Plex Sans" pitchFamily="34" charset="-122"/>
                <a:cs typeface="IBM Plex Sans" pitchFamily="34" charset="-120"/>
              </a:rPr>
              <a:t> single-page UI served by Nginx</a:t>
            </a:r>
            <a:endParaRPr lang="en-US" sz="1400" dirty="0"/>
          </a:p>
        </p:txBody>
      </p:sp>
      <p:sp>
        <p:nvSpPr>
          <p:cNvPr id="6" name="Text 4"/>
          <p:cNvSpPr/>
          <p:nvPr/>
        </p:nvSpPr>
        <p:spPr>
          <a:xfrm>
            <a:off x="812800" y="3418582"/>
            <a:ext cx="4185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BD6"/>
                </a:solidFill>
                <a:latin typeface="IBM Plex Sans" pitchFamily="34" charset="0"/>
                <a:ea typeface="IBM Plex Sans" pitchFamily="34" charset="-122"/>
                <a:cs typeface="IBM Plex Sans" pitchFamily="34" charset="-120"/>
              </a:rPr>
              <a:t>FastAPI</a:t>
            </a:r>
            <a:r>
              <a:rPr lang="en-US" sz="1400" dirty="0">
                <a:solidFill>
                  <a:srgbClr val="3A4058"/>
                </a:solidFill>
                <a:latin typeface="IBM Plex Sans" pitchFamily="34" charset="0"/>
                <a:ea typeface="IBM Plex Sans" pitchFamily="34" charset="-122"/>
                <a:cs typeface="IBM Plex Sans" pitchFamily="34" charset="-120"/>
              </a:rPr>
              <a:t> REST API with /health and /metrics</a:t>
            </a:r>
            <a:endParaRPr lang="en-US" sz="1400" dirty="0"/>
          </a:p>
        </p:txBody>
      </p:sp>
      <p:sp>
        <p:nvSpPr>
          <p:cNvPr id="7" name="Text 5"/>
          <p:cNvSpPr/>
          <p:nvPr/>
        </p:nvSpPr>
        <p:spPr>
          <a:xfrm>
            <a:off x="812800" y="3794423"/>
            <a:ext cx="4185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BD6"/>
                </a:solidFill>
                <a:latin typeface="IBM Plex Sans" pitchFamily="34" charset="0"/>
                <a:ea typeface="IBM Plex Sans" pitchFamily="34" charset="-122"/>
                <a:cs typeface="IBM Plex Sans" pitchFamily="34" charset="-120"/>
              </a:rPr>
              <a:t>PostgreSQL 16</a:t>
            </a:r>
            <a:r>
              <a:rPr lang="en-US" sz="1400" dirty="0">
                <a:solidFill>
                  <a:srgbClr val="3A4058"/>
                </a:solidFill>
                <a:latin typeface="IBM Plex Sans" pitchFamily="34" charset="0"/>
                <a:ea typeface="IBM Plex Sans" pitchFamily="34" charset="-122"/>
                <a:cs typeface="IBM Plex Sans" pitchFamily="34" charset="-120"/>
              </a:rPr>
              <a:t> with Alembic migrations</a:t>
            </a:r>
            <a:endParaRPr lang="en-US" sz="1400" dirty="0"/>
          </a:p>
        </p:txBody>
      </p:sp>
      <p:pic>
        <p:nvPicPr>
          <p:cNvPr id="8" name="Image 0" descr="BookShelf dashboard showing Total, Reading, Completed and Wishlist counters with an Add Book button">    </p:cNvPr>
          <p:cNvPicPr>
            <a:picLocks noChangeAspect="1"/>
          </p:cNvPicPr>
          <p:nvPr/>
        </p:nvPicPr>
        <p:blipFill>
          <a:blip r:embed="rId1"/>
          <a:srcRect l="0" r="0" t="26" b="26"/>
          <a:stretch/>
        </p:blipFill>
        <p:spPr>
          <a:xfrm>
            <a:off x="5289550" y="1992511"/>
            <a:ext cx="6083300" cy="3333750"/>
          </a:xfrm>
          <a:prstGeom prst="roundRect">
            <a:avLst>
              <a:gd name="adj" fmla="val 2857"/>
            </a:avLst>
          </a:prstGeom>
          <a:effectLst>
            <a:outerShdw sx="100000" sy="100000" kx="0" ky="0" algn="bl" rotWithShape="0" blurRad="304800" dist="152400" dir="5400000">
              <a:srgbClr val="141A2E">
                <a:alpha val="18000"/>
              </a:srgbClr>
            </a:outerShdw>
          </a:effectLst>
        </p:spPr>
      </p:pic>
      <p:sp>
        <p:nvSpPr>
          <p:cNvPr id="9" name="Shape 6"/>
          <p:cNvSpPr/>
          <p:nvPr/>
        </p:nvSpPr>
        <p:spPr>
          <a:xfrm>
            <a:off x="5286375" y="1989336"/>
            <a:ext cx="6089650" cy="3340100"/>
          </a:xfrm>
          <a:prstGeom prst="roundRect">
            <a:avLst>
              <a:gd name="adj" fmla="val 2947"/>
            </a:avLst>
          </a:prstGeom>
          <a:noFill/>
          <a:ln w="6350">
            <a:solidFill>
              <a:srgbClr val="D9D7C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CFA"/>
                </a:solidFill>
                <a:latin typeface="JetBrains Mono" pitchFamily="49" charset="0"/>
                <a:ea typeface="JetBrains Mono" pitchFamily="49" charset="-122"/>
                <a:cs typeface="JetBrains Mono" pitchFamily="49" charset="-120"/>
              </a:rPr>
              <a:t>02 · ARCHITECTURE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4EF"/>
                </a:solidFill>
                <a:latin typeface="Space Grotesk" pitchFamily="34" charset="0"/>
                <a:ea typeface="Space Grotesk" pitchFamily="34" charset="-122"/>
                <a:cs typeface="Space Grotesk" pitchFamily="34" charset="-120"/>
              </a:rPr>
              <a:t>From commit to cluster</a:t>
            </a:r>
            <a:endParaRPr lang="en-US" sz="3600" dirty="0"/>
          </a:p>
        </p:txBody>
      </p:sp>
      <p:sp>
        <p:nvSpPr>
          <p:cNvPr id="4" name="Shape 2"/>
          <p:cNvSpPr/>
          <p:nvPr/>
        </p:nvSpPr>
        <p:spPr>
          <a:xfrm>
            <a:off x="819150" y="2196902"/>
            <a:ext cx="1714500" cy="1531441"/>
          </a:xfrm>
          <a:prstGeom prst="roundRect">
            <a:avLst>
              <a:gd name="adj" fmla="val 6220"/>
            </a:avLst>
          </a:prstGeom>
          <a:solidFill>
            <a:srgbClr val="1E2540"/>
          </a:solidFill>
          <a:ln w="12700">
            <a:solidFill>
              <a:srgbClr val="343D63"/>
            </a:solidFill>
            <a:prstDash val="solid"/>
          </a:ln>
        </p:spPr>
      </p:sp>
      <p:pic>
        <p:nvPicPr>
          <p:cNvPr id="5" name="Image 0" descr="Code">    </p:cNvPr>
          <p:cNvPicPr>
            <a:picLocks noChangeAspect="1"/>
          </p:cNvPicPr>
          <p:nvPr/>
        </p:nvPicPr>
        <p:blipFill>
          <a:blip r:embed="rId1"/>
          <a:srcRect l="0" r="0" t="0" b="0"/>
          <a:stretch/>
        </p:blipFill>
        <p:spPr>
          <a:xfrm>
            <a:off x="977900" y="2406452"/>
            <a:ext cx="304800" cy="304800"/>
          </a:xfrm>
          <a:prstGeom prst="rect">
            <a:avLst/>
          </a:prstGeom>
        </p:spPr>
      </p:pic>
      <p:sp>
        <p:nvSpPr>
          <p:cNvPr id="6" name="Text 3"/>
          <p:cNvSpPr/>
          <p:nvPr/>
        </p:nvSpPr>
        <p:spPr>
          <a:xfrm>
            <a:off x="977900" y="2787452"/>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git push</a:t>
            </a:r>
            <a:endParaRPr lang="en-US" sz="1600" dirty="0"/>
          </a:p>
        </p:txBody>
      </p:sp>
      <p:sp>
        <p:nvSpPr>
          <p:cNvPr id="7" name="Text 4"/>
          <p:cNvSpPr/>
          <p:nvPr/>
        </p:nvSpPr>
        <p:spPr>
          <a:xfrm>
            <a:off x="977900" y="3107432"/>
            <a:ext cx="14478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CD8"/>
                </a:solidFill>
                <a:latin typeface="IBM Plex Sans" pitchFamily="34" charset="0"/>
                <a:ea typeface="IBM Plex Sans" pitchFamily="34" charset="-122"/>
                <a:cs typeface="IBM Plex Sans" pitchFamily="34" charset="-120"/>
              </a:rPr>
              <a:t>main branch is the source of truth</a:t>
            </a:r>
            <a:endParaRPr lang="en-US" sz="1200" dirty="0"/>
          </a:p>
        </p:txBody>
      </p:sp>
      <p:pic>
        <p:nvPicPr>
          <p:cNvPr id="8" name="Image 1" descr="connector">    </p:cNvPr>
          <p:cNvPicPr>
            <a:picLocks noChangeAspect="1"/>
          </p:cNvPicPr>
          <p:nvPr/>
        </p:nvPicPr>
        <p:blipFill>
          <a:blip r:embed="rId2"/>
          <a:srcRect l="0" r="0" t="0" b="0"/>
          <a:stretch/>
        </p:blipFill>
        <p:spPr>
          <a:xfrm>
            <a:off x="2540000" y="2911872"/>
            <a:ext cx="482600" cy="101600"/>
          </a:xfrm>
          <a:prstGeom prst="rect">
            <a:avLst/>
          </a:prstGeom>
        </p:spPr>
      </p:pic>
      <p:sp>
        <p:nvSpPr>
          <p:cNvPr id="9" name="Shape 5"/>
          <p:cNvSpPr/>
          <p:nvPr/>
        </p:nvSpPr>
        <p:spPr>
          <a:xfrm>
            <a:off x="3028950" y="2196902"/>
            <a:ext cx="1714500" cy="1531441"/>
          </a:xfrm>
          <a:prstGeom prst="roundRect">
            <a:avLst>
              <a:gd name="adj" fmla="val 6220"/>
            </a:avLst>
          </a:prstGeom>
          <a:solidFill>
            <a:srgbClr val="1E2540"/>
          </a:solidFill>
          <a:ln w="12700">
            <a:solidFill>
              <a:srgbClr val="343D63"/>
            </a:solidFill>
            <a:prstDash val="solid"/>
          </a:ln>
        </p:spPr>
      </p:sp>
      <p:pic>
        <p:nvPicPr>
          <p:cNvPr id="10" name="Image 2" descr="Settings">    </p:cNvPr>
          <p:cNvPicPr>
            <a:picLocks noChangeAspect="1"/>
          </p:cNvPicPr>
          <p:nvPr/>
        </p:nvPicPr>
        <p:blipFill>
          <a:blip r:embed="rId3"/>
          <a:srcRect l="0" r="0" t="0" b="0"/>
          <a:stretch/>
        </p:blipFill>
        <p:spPr>
          <a:xfrm>
            <a:off x="3187700" y="2406452"/>
            <a:ext cx="304800" cy="304800"/>
          </a:xfrm>
          <a:prstGeom prst="rect">
            <a:avLst/>
          </a:prstGeom>
        </p:spPr>
      </p:pic>
      <p:sp>
        <p:nvSpPr>
          <p:cNvPr id="11" name="Text 6"/>
          <p:cNvSpPr/>
          <p:nvPr/>
        </p:nvSpPr>
        <p:spPr>
          <a:xfrm>
            <a:off x="3187700" y="2787452"/>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CI pipeline</a:t>
            </a:r>
            <a:endParaRPr lang="en-US" sz="1600" dirty="0"/>
          </a:p>
        </p:txBody>
      </p:sp>
      <p:sp>
        <p:nvSpPr>
          <p:cNvPr id="12" name="Text 7"/>
          <p:cNvSpPr/>
          <p:nvPr/>
        </p:nvSpPr>
        <p:spPr>
          <a:xfrm>
            <a:off x="3187700" y="3107432"/>
            <a:ext cx="14478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CD8"/>
                </a:solidFill>
                <a:latin typeface="IBM Plex Sans" pitchFamily="34" charset="0"/>
                <a:ea typeface="IBM Plex Sans" pitchFamily="34" charset="-122"/>
                <a:cs typeface="IBM Plex Sans" pitchFamily="34" charset="-120"/>
              </a:rPr>
              <a:t>test, build, push, Trivy scan</a:t>
            </a:r>
            <a:endParaRPr lang="en-US" sz="1200" dirty="0"/>
          </a:p>
        </p:txBody>
      </p:sp>
      <p:pic>
        <p:nvPicPr>
          <p:cNvPr id="13" name="Image 3" descr="connector">    </p:cNvPr>
          <p:cNvPicPr>
            <a:picLocks noChangeAspect="1"/>
          </p:cNvPicPr>
          <p:nvPr/>
        </p:nvPicPr>
        <p:blipFill>
          <a:blip r:embed="rId4"/>
          <a:srcRect l="0" r="0" t="0" b="0"/>
          <a:stretch/>
        </p:blipFill>
        <p:spPr>
          <a:xfrm>
            <a:off x="4749800" y="2911872"/>
            <a:ext cx="482600" cy="101600"/>
          </a:xfrm>
          <a:prstGeom prst="rect">
            <a:avLst/>
          </a:prstGeom>
        </p:spPr>
      </p:pic>
      <p:sp>
        <p:nvSpPr>
          <p:cNvPr id="14" name="Shape 8"/>
          <p:cNvSpPr/>
          <p:nvPr/>
        </p:nvSpPr>
        <p:spPr>
          <a:xfrm>
            <a:off x="5238750" y="2196902"/>
            <a:ext cx="1714500" cy="1531441"/>
          </a:xfrm>
          <a:prstGeom prst="roundRect">
            <a:avLst>
              <a:gd name="adj" fmla="val 6220"/>
            </a:avLst>
          </a:prstGeom>
          <a:solidFill>
            <a:srgbClr val="1E2540"/>
          </a:solidFill>
          <a:ln w="12700">
            <a:solidFill>
              <a:srgbClr val="343D63"/>
            </a:solidFill>
            <a:prstDash val="solid"/>
          </a:ln>
        </p:spPr>
      </p:sp>
      <p:pic>
        <p:nvPicPr>
          <p:cNvPr id="15" name="Image 4" descr="Database">    </p:cNvPr>
          <p:cNvPicPr>
            <a:picLocks noChangeAspect="1"/>
          </p:cNvPicPr>
          <p:nvPr/>
        </p:nvPicPr>
        <p:blipFill>
          <a:blip r:embed="rId5"/>
          <a:srcRect l="0" r="0" t="0" b="0"/>
          <a:stretch/>
        </p:blipFill>
        <p:spPr>
          <a:xfrm>
            <a:off x="5397500" y="2406452"/>
            <a:ext cx="304800" cy="304800"/>
          </a:xfrm>
          <a:prstGeom prst="rect">
            <a:avLst/>
          </a:prstGeom>
        </p:spPr>
      </p:pic>
      <p:sp>
        <p:nvSpPr>
          <p:cNvPr id="16" name="Text 9"/>
          <p:cNvSpPr/>
          <p:nvPr/>
        </p:nvSpPr>
        <p:spPr>
          <a:xfrm>
            <a:off x="5397500" y="2787452"/>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GHCR</a:t>
            </a:r>
            <a:endParaRPr lang="en-US" sz="1600" dirty="0"/>
          </a:p>
        </p:txBody>
      </p:sp>
      <p:sp>
        <p:nvSpPr>
          <p:cNvPr id="17" name="Text 10"/>
          <p:cNvSpPr/>
          <p:nvPr/>
        </p:nvSpPr>
        <p:spPr>
          <a:xfrm>
            <a:off x="5397500" y="3107432"/>
            <a:ext cx="14478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CD8"/>
                </a:solidFill>
                <a:latin typeface="IBM Plex Sans" pitchFamily="34" charset="0"/>
                <a:ea typeface="IBM Plex Sans" pitchFamily="34" charset="-122"/>
                <a:cs typeface="IBM Plex Sans" pitchFamily="34" charset="-120"/>
              </a:rPr>
              <a:t>images tagged with the commit SHA</a:t>
            </a:r>
            <a:endParaRPr lang="en-US" sz="1200" dirty="0"/>
          </a:p>
        </p:txBody>
      </p:sp>
      <p:pic>
        <p:nvPicPr>
          <p:cNvPr id="18" name="Image 5" descr="connector">    </p:cNvPr>
          <p:cNvPicPr>
            <a:picLocks noChangeAspect="1"/>
          </p:cNvPicPr>
          <p:nvPr/>
        </p:nvPicPr>
        <p:blipFill>
          <a:blip r:embed="rId6"/>
          <a:srcRect l="0" r="0" t="0" b="0"/>
          <a:stretch/>
        </p:blipFill>
        <p:spPr>
          <a:xfrm>
            <a:off x="6959600" y="2911872"/>
            <a:ext cx="482600" cy="101600"/>
          </a:xfrm>
          <a:prstGeom prst="rect">
            <a:avLst/>
          </a:prstGeom>
        </p:spPr>
      </p:pic>
      <p:sp>
        <p:nvSpPr>
          <p:cNvPr id="19" name="Shape 11"/>
          <p:cNvSpPr/>
          <p:nvPr/>
        </p:nvSpPr>
        <p:spPr>
          <a:xfrm>
            <a:off x="7448550" y="2094111"/>
            <a:ext cx="1714500" cy="1737122"/>
          </a:xfrm>
          <a:prstGeom prst="roundRect">
            <a:avLst>
              <a:gd name="adj" fmla="val 5556"/>
            </a:avLst>
          </a:prstGeom>
          <a:solidFill>
            <a:srgbClr val="1E2540"/>
          </a:solidFill>
          <a:ln w="12700">
            <a:solidFill>
              <a:srgbClr val="343D63"/>
            </a:solidFill>
            <a:prstDash val="solid"/>
          </a:ln>
        </p:spPr>
      </p:sp>
      <p:pic>
        <p:nvPicPr>
          <p:cNvPr id="20" name="Image 6" descr="Activity">    </p:cNvPr>
          <p:cNvPicPr>
            <a:picLocks noChangeAspect="1"/>
          </p:cNvPicPr>
          <p:nvPr/>
        </p:nvPicPr>
        <p:blipFill>
          <a:blip r:embed="rId7"/>
          <a:srcRect l="0" r="0" t="0" b="0"/>
          <a:stretch/>
        </p:blipFill>
        <p:spPr>
          <a:xfrm>
            <a:off x="7607300" y="2303661"/>
            <a:ext cx="304800" cy="304800"/>
          </a:xfrm>
          <a:prstGeom prst="rect">
            <a:avLst/>
          </a:prstGeom>
        </p:spPr>
      </p:pic>
      <p:sp>
        <p:nvSpPr>
          <p:cNvPr id="21" name="Text 12"/>
          <p:cNvSpPr/>
          <p:nvPr/>
        </p:nvSpPr>
        <p:spPr>
          <a:xfrm>
            <a:off x="7607300" y="2684661"/>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Argo CD</a:t>
            </a:r>
            <a:endParaRPr lang="en-US" sz="1600" dirty="0"/>
          </a:p>
        </p:txBody>
      </p:sp>
      <p:sp>
        <p:nvSpPr>
          <p:cNvPr id="22" name="Text 13"/>
          <p:cNvSpPr/>
          <p:nvPr/>
        </p:nvSpPr>
        <p:spPr>
          <a:xfrm>
            <a:off x="7607300" y="3004641"/>
            <a:ext cx="14478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CD8"/>
                </a:solidFill>
                <a:latin typeface="IBM Plex Sans" pitchFamily="34" charset="0"/>
                <a:ea typeface="IBM Plex Sans" pitchFamily="34" charset="-122"/>
                <a:cs typeface="IBM Plex Sans" pitchFamily="34" charset="-120"/>
              </a:rPr>
              <a:t>pulls the Helm chart, syncs the cluster</a:t>
            </a:r>
            <a:endParaRPr lang="en-US" sz="1200" dirty="0"/>
          </a:p>
        </p:txBody>
      </p:sp>
      <p:pic>
        <p:nvPicPr>
          <p:cNvPr id="23" name="Image 7" descr="connector">    </p:cNvPr>
          <p:cNvPicPr>
            <a:picLocks noChangeAspect="1"/>
          </p:cNvPicPr>
          <p:nvPr/>
        </p:nvPicPr>
        <p:blipFill>
          <a:blip r:embed="rId8"/>
          <a:srcRect l="0" r="0" t="0" b="0"/>
          <a:stretch/>
        </p:blipFill>
        <p:spPr>
          <a:xfrm>
            <a:off x="9169400" y="2911872"/>
            <a:ext cx="482600" cy="101600"/>
          </a:xfrm>
          <a:prstGeom prst="rect">
            <a:avLst/>
          </a:prstGeom>
        </p:spPr>
      </p:pic>
      <p:sp>
        <p:nvSpPr>
          <p:cNvPr id="24" name="Shape 14"/>
          <p:cNvSpPr/>
          <p:nvPr/>
        </p:nvSpPr>
        <p:spPr>
          <a:xfrm>
            <a:off x="9658350" y="2196902"/>
            <a:ext cx="1714500" cy="1531441"/>
          </a:xfrm>
          <a:prstGeom prst="roundRect">
            <a:avLst>
              <a:gd name="adj" fmla="val 6220"/>
            </a:avLst>
          </a:prstGeom>
          <a:solidFill>
            <a:srgbClr val="8B7CF6"/>
          </a:solidFill>
          <a:ln w="12700">
            <a:solidFill>
              <a:srgbClr val="8B7CF6"/>
            </a:solidFill>
            <a:prstDash val="solid"/>
          </a:ln>
        </p:spPr>
      </p:sp>
      <p:pic>
        <p:nvPicPr>
          <p:cNvPr id="25" name="Image 8" descr="Cloud">    </p:cNvPr>
          <p:cNvPicPr>
            <a:picLocks noChangeAspect="1"/>
          </p:cNvPicPr>
          <p:nvPr/>
        </p:nvPicPr>
        <p:blipFill>
          <a:blip r:embed="rId9"/>
          <a:srcRect l="0" r="0" t="0" b="0"/>
          <a:stretch/>
        </p:blipFill>
        <p:spPr>
          <a:xfrm>
            <a:off x="9817100" y="2406452"/>
            <a:ext cx="304800" cy="304800"/>
          </a:xfrm>
          <a:prstGeom prst="rect">
            <a:avLst/>
          </a:prstGeom>
        </p:spPr>
      </p:pic>
      <p:sp>
        <p:nvSpPr>
          <p:cNvPr id="26" name="Text 15"/>
          <p:cNvSpPr/>
          <p:nvPr/>
        </p:nvSpPr>
        <p:spPr>
          <a:xfrm>
            <a:off x="9817100" y="2787452"/>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424"/>
                </a:solidFill>
                <a:latin typeface="Space Grotesk" pitchFamily="34" charset="0"/>
                <a:ea typeface="Space Grotesk" pitchFamily="34" charset="-122"/>
                <a:cs typeface="Space Grotesk" pitchFamily="34" charset="-120"/>
              </a:rPr>
              <a:t>AWS EKS</a:t>
            </a:r>
            <a:endParaRPr lang="en-US" sz="1600" dirty="0"/>
          </a:p>
        </p:txBody>
      </p:sp>
      <p:sp>
        <p:nvSpPr>
          <p:cNvPr id="27" name="Text 16"/>
          <p:cNvSpPr/>
          <p:nvPr/>
        </p:nvSpPr>
        <p:spPr>
          <a:xfrm>
            <a:off x="9817100" y="3107432"/>
            <a:ext cx="14478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F1424"/>
                </a:solidFill>
                <a:latin typeface="IBM Plex Sans" pitchFamily="34" charset="0"/>
                <a:ea typeface="IBM Plex Sans" pitchFamily="34" charset="-122"/>
                <a:cs typeface="IBM Plex Sans" pitchFamily="34" charset="-120"/>
              </a:rPr>
              <a:t>built by Terraform in ap-south-1</a:t>
            </a:r>
            <a:endParaRPr lang="en-US" sz="1200" dirty="0"/>
          </a:p>
        </p:txBody>
      </p:sp>
      <p:sp>
        <p:nvSpPr>
          <p:cNvPr id="28" name="Shape 17"/>
          <p:cNvSpPr/>
          <p:nvPr/>
        </p:nvSpPr>
        <p:spPr>
          <a:xfrm>
            <a:off x="819150" y="4301133"/>
            <a:ext cx="10553700" cy="647700"/>
          </a:xfrm>
          <a:prstGeom prst="roundRect">
            <a:avLst>
              <a:gd name="adj" fmla="val 14706"/>
            </a:avLst>
          </a:prstGeom>
          <a:solidFill>
            <a:srgbClr val="161C33"/>
          </a:solidFill>
          <a:ln w="12700">
            <a:solidFill>
              <a:srgbClr val="343D63"/>
            </a:solidFill>
            <a:prstDash val="dash"/>
          </a:ln>
        </p:spPr>
      </p:sp>
      <p:pic>
        <p:nvPicPr>
          <p:cNvPr id="29" name="Image 9" descr="Chart">    </p:cNvPr>
          <p:cNvPicPr>
            <a:picLocks noChangeAspect="1"/>
          </p:cNvPicPr>
          <p:nvPr/>
        </p:nvPicPr>
        <p:blipFill>
          <a:blip r:embed="rId10"/>
          <a:srcRect l="0" r="0" t="0" b="0"/>
          <a:stretch/>
        </p:blipFill>
        <p:spPr>
          <a:xfrm>
            <a:off x="1028700" y="4485283"/>
            <a:ext cx="279400" cy="279400"/>
          </a:xfrm>
          <a:prstGeom prst="rect">
            <a:avLst/>
          </a:prstGeom>
        </p:spPr>
      </p:pic>
      <p:sp>
        <p:nvSpPr>
          <p:cNvPr id="30" name="Text 18"/>
          <p:cNvSpPr/>
          <p:nvPr/>
        </p:nvSpPr>
        <p:spPr>
          <a:xfrm>
            <a:off x="1460500" y="4500563"/>
            <a:ext cx="77754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65A"/>
                </a:solidFill>
                <a:latin typeface="IBM Plex Sans" pitchFamily="34" charset="0"/>
                <a:ea typeface="IBM Plex Sans" pitchFamily="34" charset="-122"/>
                <a:cs typeface="IBM Plex Sans" pitchFamily="34" charset="-120"/>
              </a:rPr>
              <a:t>Watching it all:</a:t>
            </a:r>
            <a:r>
              <a:rPr lang="en-US" sz="1400" dirty="0">
                <a:solidFill>
                  <a:srgbClr val="C9CCD8"/>
                </a:solidFill>
                <a:latin typeface="IBM Plex Sans" pitchFamily="34" charset="0"/>
                <a:ea typeface="IBM Plex Sans" pitchFamily="34" charset="-122"/>
                <a:cs typeface="IBM Plex Sans" pitchFamily="34" charset="-120"/>
              </a:rPr>
              <a:t> Prometheus scrapes the backend’s /metrics and Grafana charts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03 · TECH STACK</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One tool per job</a:t>
            </a:r>
            <a:endParaRPr lang="en-US" sz="3600" dirty="0"/>
          </a:p>
        </p:txBody>
      </p:sp>
      <p:sp>
        <p:nvSpPr>
          <p:cNvPr id="4" name="Shape 2"/>
          <p:cNvSpPr/>
          <p:nvPr/>
        </p:nvSpPr>
        <p:spPr>
          <a:xfrm>
            <a:off x="815975" y="1989336"/>
            <a:ext cx="3414117" cy="920651"/>
          </a:xfrm>
          <a:prstGeom prst="roundRect">
            <a:avLst>
              <a:gd name="adj" fmla="val 10691"/>
            </a:avLst>
          </a:prstGeom>
          <a:solidFill>
            <a:srgbClr val="FBFBF8"/>
          </a:solidFill>
          <a:ln w="6350">
            <a:solidFill>
              <a:srgbClr val="D9D7CE"/>
            </a:solidFill>
            <a:prstDash val="solid"/>
          </a:ln>
        </p:spPr>
      </p:sp>
      <p:sp>
        <p:nvSpPr>
          <p:cNvPr id="5" name="Text 3"/>
          <p:cNvSpPr/>
          <p:nvPr/>
        </p:nvSpPr>
        <p:spPr>
          <a:xfrm>
            <a:off x="1022350" y="2195711"/>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APPLICATION</a:t>
            </a:r>
            <a:endParaRPr lang="en-US" sz="1200" dirty="0"/>
          </a:p>
        </p:txBody>
      </p:sp>
      <p:sp>
        <p:nvSpPr>
          <p:cNvPr id="6" name="Text 4"/>
          <p:cNvSpPr/>
          <p:nvPr/>
        </p:nvSpPr>
        <p:spPr>
          <a:xfrm>
            <a:off x="1022350" y="24598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FastAPI · React · Postgres</a:t>
            </a:r>
            <a:endParaRPr lang="en-US" sz="1600" dirty="0"/>
          </a:p>
        </p:txBody>
      </p:sp>
      <p:sp>
        <p:nvSpPr>
          <p:cNvPr id="7" name="Shape 5"/>
          <p:cNvSpPr/>
          <p:nvPr/>
        </p:nvSpPr>
        <p:spPr>
          <a:xfrm>
            <a:off x="4388842" y="1989336"/>
            <a:ext cx="3414216" cy="920651"/>
          </a:xfrm>
          <a:prstGeom prst="roundRect">
            <a:avLst>
              <a:gd name="adj" fmla="val 10691"/>
            </a:avLst>
          </a:prstGeom>
          <a:solidFill>
            <a:srgbClr val="FBFBF8"/>
          </a:solidFill>
          <a:ln w="6350">
            <a:solidFill>
              <a:srgbClr val="D9D7CE"/>
            </a:solidFill>
            <a:prstDash val="solid"/>
          </a:ln>
        </p:spPr>
      </p:sp>
      <p:sp>
        <p:nvSpPr>
          <p:cNvPr id="8" name="Text 6"/>
          <p:cNvSpPr/>
          <p:nvPr/>
        </p:nvSpPr>
        <p:spPr>
          <a:xfrm>
            <a:off x="4595217" y="219571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TESTING</a:t>
            </a:r>
            <a:endParaRPr lang="en-US" sz="1200" dirty="0"/>
          </a:p>
        </p:txBody>
      </p:sp>
      <p:sp>
        <p:nvSpPr>
          <p:cNvPr id="9" name="Text 7"/>
          <p:cNvSpPr/>
          <p:nvPr/>
        </p:nvSpPr>
        <p:spPr>
          <a:xfrm>
            <a:off x="4595217" y="24598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Pytest · HTTPX · SQLite</a:t>
            </a:r>
            <a:endParaRPr lang="en-US" sz="1600" dirty="0"/>
          </a:p>
        </p:txBody>
      </p:sp>
      <p:sp>
        <p:nvSpPr>
          <p:cNvPr id="10" name="Shape 8"/>
          <p:cNvSpPr/>
          <p:nvPr/>
        </p:nvSpPr>
        <p:spPr>
          <a:xfrm>
            <a:off x="7961809" y="1989336"/>
            <a:ext cx="3414216" cy="920651"/>
          </a:xfrm>
          <a:prstGeom prst="roundRect">
            <a:avLst>
              <a:gd name="adj" fmla="val 10691"/>
            </a:avLst>
          </a:prstGeom>
          <a:solidFill>
            <a:srgbClr val="FBFBF8"/>
          </a:solidFill>
          <a:ln w="6350">
            <a:solidFill>
              <a:srgbClr val="D9D7CE"/>
            </a:solidFill>
            <a:prstDash val="solid"/>
          </a:ln>
        </p:spPr>
      </p:sp>
      <p:sp>
        <p:nvSpPr>
          <p:cNvPr id="11" name="Text 9"/>
          <p:cNvSpPr/>
          <p:nvPr/>
        </p:nvSpPr>
        <p:spPr>
          <a:xfrm>
            <a:off x="8168184" y="219571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CONTAINERS</a:t>
            </a:r>
            <a:endParaRPr lang="en-US" sz="1200" dirty="0"/>
          </a:p>
        </p:txBody>
      </p:sp>
      <p:sp>
        <p:nvSpPr>
          <p:cNvPr id="12" name="Text 10"/>
          <p:cNvSpPr/>
          <p:nvPr/>
        </p:nvSpPr>
        <p:spPr>
          <a:xfrm>
            <a:off x="8168184" y="24598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Docker · Compose · GHCR</a:t>
            </a:r>
            <a:endParaRPr lang="en-US" sz="1600" dirty="0"/>
          </a:p>
        </p:txBody>
      </p:sp>
      <p:sp>
        <p:nvSpPr>
          <p:cNvPr id="13" name="Shape 11"/>
          <p:cNvSpPr/>
          <p:nvPr/>
        </p:nvSpPr>
        <p:spPr>
          <a:xfrm>
            <a:off x="815975" y="3068737"/>
            <a:ext cx="3414117" cy="920651"/>
          </a:xfrm>
          <a:prstGeom prst="roundRect">
            <a:avLst>
              <a:gd name="adj" fmla="val 10691"/>
            </a:avLst>
          </a:prstGeom>
          <a:solidFill>
            <a:srgbClr val="FBFBF8"/>
          </a:solidFill>
          <a:ln w="6350">
            <a:solidFill>
              <a:srgbClr val="D9D7CE"/>
            </a:solidFill>
            <a:prstDash val="solid"/>
          </a:ln>
        </p:spPr>
      </p:sp>
      <p:sp>
        <p:nvSpPr>
          <p:cNvPr id="14" name="Text 12"/>
          <p:cNvSpPr/>
          <p:nvPr/>
        </p:nvSpPr>
        <p:spPr>
          <a:xfrm>
            <a:off x="1022350" y="327511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CI/CD + SECURITY</a:t>
            </a:r>
            <a:endParaRPr lang="en-US" sz="1200" dirty="0"/>
          </a:p>
        </p:txBody>
      </p:sp>
      <p:sp>
        <p:nvSpPr>
          <p:cNvPr id="15" name="Text 13"/>
          <p:cNvSpPr/>
          <p:nvPr/>
        </p:nvSpPr>
        <p:spPr>
          <a:xfrm>
            <a:off x="1022350" y="3539232"/>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GitHub Actions · Trivy</a:t>
            </a:r>
            <a:endParaRPr lang="en-US" sz="1600" dirty="0"/>
          </a:p>
        </p:txBody>
      </p:sp>
      <p:sp>
        <p:nvSpPr>
          <p:cNvPr id="16" name="Shape 14"/>
          <p:cNvSpPr/>
          <p:nvPr/>
        </p:nvSpPr>
        <p:spPr>
          <a:xfrm>
            <a:off x="4388842" y="3068737"/>
            <a:ext cx="3414216" cy="920651"/>
          </a:xfrm>
          <a:prstGeom prst="roundRect">
            <a:avLst>
              <a:gd name="adj" fmla="val 10691"/>
            </a:avLst>
          </a:prstGeom>
          <a:solidFill>
            <a:srgbClr val="FBFBF8"/>
          </a:solidFill>
          <a:ln w="6350">
            <a:solidFill>
              <a:srgbClr val="D9D7CE"/>
            </a:solidFill>
            <a:prstDash val="solid"/>
          </a:ln>
        </p:spPr>
      </p:sp>
      <p:sp>
        <p:nvSpPr>
          <p:cNvPr id="17" name="Text 15"/>
          <p:cNvSpPr/>
          <p:nvPr/>
        </p:nvSpPr>
        <p:spPr>
          <a:xfrm>
            <a:off x="4595217" y="327511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INFRASTRUCTURE</a:t>
            </a:r>
            <a:endParaRPr lang="en-US" sz="1200" dirty="0"/>
          </a:p>
        </p:txBody>
      </p:sp>
      <p:sp>
        <p:nvSpPr>
          <p:cNvPr id="18" name="Text 16"/>
          <p:cNvSpPr/>
          <p:nvPr/>
        </p:nvSpPr>
        <p:spPr>
          <a:xfrm>
            <a:off x="4595217" y="353923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Terraform · AWS VPC + EKS</a:t>
            </a:r>
            <a:endParaRPr lang="en-US" sz="1600" dirty="0"/>
          </a:p>
        </p:txBody>
      </p:sp>
      <p:sp>
        <p:nvSpPr>
          <p:cNvPr id="19" name="Shape 17"/>
          <p:cNvSpPr/>
          <p:nvPr/>
        </p:nvSpPr>
        <p:spPr>
          <a:xfrm>
            <a:off x="7961809" y="3068737"/>
            <a:ext cx="3414216" cy="920651"/>
          </a:xfrm>
          <a:prstGeom prst="roundRect">
            <a:avLst>
              <a:gd name="adj" fmla="val 10691"/>
            </a:avLst>
          </a:prstGeom>
          <a:solidFill>
            <a:srgbClr val="FBFBF8"/>
          </a:solidFill>
          <a:ln w="6350">
            <a:solidFill>
              <a:srgbClr val="D9D7CE"/>
            </a:solidFill>
            <a:prstDash val="solid"/>
          </a:ln>
        </p:spPr>
      </p:sp>
      <p:sp>
        <p:nvSpPr>
          <p:cNvPr id="20" name="Text 18"/>
          <p:cNvSpPr/>
          <p:nvPr/>
        </p:nvSpPr>
        <p:spPr>
          <a:xfrm>
            <a:off x="8168184" y="327511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ORCHESTRATION</a:t>
            </a:r>
            <a:endParaRPr lang="en-US" sz="1200" dirty="0"/>
          </a:p>
        </p:txBody>
      </p:sp>
      <p:sp>
        <p:nvSpPr>
          <p:cNvPr id="21" name="Text 19"/>
          <p:cNvSpPr/>
          <p:nvPr/>
        </p:nvSpPr>
        <p:spPr>
          <a:xfrm>
            <a:off x="8168184" y="353923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Kubernetes 1.30 · Helm</a:t>
            </a:r>
            <a:endParaRPr lang="en-US" sz="1600" dirty="0"/>
          </a:p>
        </p:txBody>
      </p:sp>
      <p:sp>
        <p:nvSpPr>
          <p:cNvPr id="22" name="Shape 20"/>
          <p:cNvSpPr/>
          <p:nvPr/>
        </p:nvSpPr>
        <p:spPr>
          <a:xfrm>
            <a:off x="815975" y="4148137"/>
            <a:ext cx="3414117" cy="920651"/>
          </a:xfrm>
          <a:prstGeom prst="roundRect">
            <a:avLst>
              <a:gd name="adj" fmla="val 10691"/>
            </a:avLst>
          </a:prstGeom>
          <a:solidFill>
            <a:srgbClr val="FBFBF8"/>
          </a:solidFill>
          <a:ln w="6350">
            <a:solidFill>
              <a:srgbClr val="D9D7CE"/>
            </a:solidFill>
            <a:prstDash val="solid"/>
          </a:ln>
        </p:spPr>
      </p:sp>
      <p:sp>
        <p:nvSpPr>
          <p:cNvPr id="23" name="Text 21"/>
          <p:cNvSpPr/>
          <p:nvPr/>
        </p:nvSpPr>
        <p:spPr>
          <a:xfrm>
            <a:off x="1022350" y="4354513"/>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GITOPS</a:t>
            </a:r>
            <a:endParaRPr lang="en-US" sz="1200" dirty="0"/>
          </a:p>
        </p:txBody>
      </p:sp>
      <p:sp>
        <p:nvSpPr>
          <p:cNvPr id="24" name="Text 22"/>
          <p:cNvSpPr/>
          <p:nvPr/>
        </p:nvSpPr>
        <p:spPr>
          <a:xfrm>
            <a:off x="1022350" y="4618633"/>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Argo CD v3.5.5</a:t>
            </a:r>
            <a:endParaRPr lang="en-US" sz="1600" dirty="0"/>
          </a:p>
        </p:txBody>
      </p:sp>
      <p:sp>
        <p:nvSpPr>
          <p:cNvPr id="25" name="Shape 23"/>
          <p:cNvSpPr/>
          <p:nvPr/>
        </p:nvSpPr>
        <p:spPr>
          <a:xfrm>
            <a:off x="4388842" y="4148137"/>
            <a:ext cx="3414216" cy="920651"/>
          </a:xfrm>
          <a:prstGeom prst="roundRect">
            <a:avLst>
              <a:gd name="adj" fmla="val 10691"/>
            </a:avLst>
          </a:prstGeom>
          <a:solidFill>
            <a:srgbClr val="FBFBF8"/>
          </a:solidFill>
          <a:ln w="6350">
            <a:solidFill>
              <a:srgbClr val="D9D7CE"/>
            </a:solidFill>
            <a:prstDash val="solid"/>
          </a:ln>
        </p:spPr>
      </p:sp>
      <p:sp>
        <p:nvSpPr>
          <p:cNvPr id="26" name="Text 24"/>
          <p:cNvSpPr/>
          <p:nvPr/>
        </p:nvSpPr>
        <p:spPr>
          <a:xfrm>
            <a:off x="4595217" y="435451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OBSERVABILITY</a:t>
            </a:r>
            <a:endParaRPr lang="en-US" sz="1200" dirty="0"/>
          </a:p>
        </p:txBody>
      </p:sp>
      <p:sp>
        <p:nvSpPr>
          <p:cNvPr id="27" name="Text 25"/>
          <p:cNvSpPr/>
          <p:nvPr/>
        </p:nvSpPr>
        <p:spPr>
          <a:xfrm>
            <a:off x="4595217" y="4618633"/>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Prometheus · Grafana</a:t>
            </a:r>
            <a:endParaRPr lang="en-US" sz="1600" dirty="0"/>
          </a:p>
        </p:txBody>
      </p:sp>
      <p:sp>
        <p:nvSpPr>
          <p:cNvPr id="28" name="Shape 26"/>
          <p:cNvSpPr/>
          <p:nvPr/>
        </p:nvSpPr>
        <p:spPr>
          <a:xfrm>
            <a:off x="7961809" y="4148137"/>
            <a:ext cx="3414216" cy="920651"/>
          </a:xfrm>
          <a:prstGeom prst="roundRect">
            <a:avLst>
              <a:gd name="adj" fmla="val 10691"/>
            </a:avLst>
          </a:prstGeom>
          <a:solidFill>
            <a:srgbClr val="FBFBF8"/>
          </a:solidFill>
          <a:ln w="6350">
            <a:solidFill>
              <a:srgbClr val="D9D7CE"/>
            </a:solidFill>
            <a:prstDash val="solid"/>
          </a:ln>
        </p:spPr>
      </p:sp>
      <p:sp>
        <p:nvSpPr>
          <p:cNvPr id="29" name="Text 27"/>
          <p:cNvSpPr/>
          <p:nvPr/>
        </p:nvSpPr>
        <p:spPr>
          <a:xfrm>
            <a:off x="8168184" y="435451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MIGRATIONS</a:t>
            </a:r>
            <a:endParaRPr lang="en-US" sz="1200" dirty="0"/>
          </a:p>
        </p:txBody>
      </p:sp>
      <p:sp>
        <p:nvSpPr>
          <p:cNvPr id="30" name="Text 28"/>
          <p:cNvSpPr/>
          <p:nvPr/>
        </p:nvSpPr>
        <p:spPr>
          <a:xfrm>
            <a:off x="8168184" y="4618633"/>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SQLAlchemy 2 · Alembic</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04 · TESTING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Tests gate everything</a:t>
            </a:r>
            <a:endParaRPr lang="en-US" sz="3600" dirty="0"/>
          </a:p>
        </p:txBody>
      </p:sp>
      <p:sp>
        <p:nvSpPr>
          <p:cNvPr id="4" name="Shape 2"/>
          <p:cNvSpPr/>
          <p:nvPr/>
        </p:nvSpPr>
        <p:spPr>
          <a:xfrm>
            <a:off x="815975" y="1989336"/>
            <a:ext cx="3414117" cy="1418431"/>
          </a:xfrm>
          <a:prstGeom prst="roundRect">
            <a:avLst>
              <a:gd name="adj" fmla="val 6939"/>
            </a:avLst>
          </a:prstGeom>
          <a:solidFill>
            <a:srgbClr val="FBFBF8"/>
          </a:solidFill>
          <a:ln w="6350">
            <a:solidFill>
              <a:srgbClr val="D9D7CE"/>
            </a:solidFill>
            <a:prstDash val="solid"/>
          </a:ln>
        </p:spPr>
      </p:sp>
      <p:sp>
        <p:nvSpPr>
          <p:cNvPr id="5" name="Text 3"/>
          <p:cNvSpPr/>
          <p:nvPr/>
        </p:nvSpPr>
        <p:spPr>
          <a:xfrm>
            <a:off x="1022350" y="2195711"/>
            <a:ext cx="30914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8 / 8</a:t>
            </a:r>
            <a:endParaRPr lang="en-US" sz="3600" dirty="0"/>
          </a:p>
        </p:txBody>
      </p:sp>
      <p:sp>
        <p:nvSpPr>
          <p:cNvPr id="6" name="Text 4"/>
          <p:cNvSpPr/>
          <p:nvPr/>
        </p:nvSpPr>
        <p:spPr>
          <a:xfrm>
            <a:off x="1022350" y="2703711"/>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API tests passing: health, CRUD, filters and 404s</a:t>
            </a:r>
            <a:endParaRPr lang="en-US" sz="1400" dirty="0"/>
          </a:p>
        </p:txBody>
      </p:sp>
      <p:sp>
        <p:nvSpPr>
          <p:cNvPr id="7" name="Shape 5"/>
          <p:cNvSpPr/>
          <p:nvPr/>
        </p:nvSpPr>
        <p:spPr>
          <a:xfrm>
            <a:off x="4388842" y="1989336"/>
            <a:ext cx="3414216" cy="1418431"/>
          </a:xfrm>
          <a:prstGeom prst="roundRect">
            <a:avLst>
              <a:gd name="adj" fmla="val 6939"/>
            </a:avLst>
          </a:prstGeom>
          <a:solidFill>
            <a:srgbClr val="FBFBF8"/>
          </a:solidFill>
          <a:ln w="6350">
            <a:solidFill>
              <a:srgbClr val="D9D7CE"/>
            </a:solidFill>
            <a:prstDash val="solid"/>
          </a:ln>
        </p:spPr>
      </p:sp>
      <p:sp>
        <p:nvSpPr>
          <p:cNvPr id="8" name="Text 6"/>
          <p:cNvSpPr/>
          <p:nvPr/>
        </p:nvSpPr>
        <p:spPr>
          <a:xfrm>
            <a:off x="4595217" y="2195711"/>
            <a:ext cx="30915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0.05s</a:t>
            </a:r>
            <a:endParaRPr lang="en-US" sz="3600" dirty="0"/>
          </a:p>
        </p:txBody>
      </p:sp>
      <p:sp>
        <p:nvSpPr>
          <p:cNvPr id="9" name="Text 7"/>
          <p:cNvSpPr/>
          <p:nvPr/>
        </p:nvSpPr>
        <p:spPr>
          <a:xfrm>
            <a:off x="4595217" y="270371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in-memory SQLite fixtures, no database needed</a:t>
            </a:r>
            <a:endParaRPr lang="en-US" sz="1400" dirty="0"/>
          </a:p>
        </p:txBody>
      </p:sp>
      <p:sp>
        <p:nvSpPr>
          <p:cNvPr id="10" name="Shape 8"/>
          <p:cNvSpPr/>
          <p:nvPr/>
        </p:nvSpPr>
        <p:spPr>
          <a:xfrm>
            <a:off x="7961809" y="1989336"/>
            <a:ext cx="3414216" cy="1418431"/>
          </a:xfrm>
          <a:prstGeom prst="roundRect">
            <a:avLst>
              <a:gd name="adj" fmla="val 6939"/>
            </a:avLst>
          </a:prstGeom>
          <a:solidFill>
            <a:srgbClr val="FBFBF8"/>
          </a:solidFill>
          <a:ln w="6350">
            <a:solidFill>
              <a:srgbClr val="D9D7CE"/>
            </a:solidFill>
            <a:prstDash val="solid"/>
          </a:ln>
        </p:spPr>
      </p:sp>
      <p:sp>
        <p:nvSpPr>
          <p:cNvPr id="11" name="Text 9"/>
          <p:cNvSpPr/>
          <p:nvPr/>
        </p:nvSpPr>
        <p:spPr>
          <a:xfrm>
            <a:off x="8168184" y="2195711"/>
            <a:ext cx="30915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Job 1</a:t>
            </a:r>
            <a:endParaRPr lang="en-US" sz="3600" dirty="0"/>
          </a:p>
        </p:txBody>
      </p:sp>
      <p:sp>
        <p:nvSpPr>
          <p:cNvPr id="12" name="Text 10"/>
          <p:cNvSpPr/>
          <p:nvPr/>
        </p:nvSpPr>
        <p:spPr>
          <a:xfrm>
            <a:off x="8168184" y="270371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a failing test stops the pipeline before any image is built</a:t>
            </a:r>
            <a:endParaRPr lang="en-US" sz="1400" dirty="0"/>
          </a:p>
        </p:txBody>
      </p:sp>
      <p:sp>
        <p:nvSpPr>
          <p:cNvPr id="13" name="Shape 11"/>
          <p:cNvSpPr/>
          <p:nvPr/>
        </p:nvSpPr>
        <p:spPr>
          <a:xfrm>
            <a:off x="812800" y="3766542"/>
            <a:ext cx="10566400" cy="2203450"/>
          </a:xfrm>
          <a:prstGeom prst="roundRect">
            <a:avLst>
              <a:gd name="adj" fmla="val 4611"/>
            </a:avLst>
          </a:prstGeom>
          <a:solidFill>
            <a:srgbClr val="222222"/>
          </a:solidFill>
          <a:ln/>
        </p:spPr>
      </p:sp>
      <p:pic>
        <p:nvPicPr>
          <p:cNvPr id="14" name="Image 0" descr="pytest output: 8 tests collected, all PASSED from test_health_check to test_delete_book">    </p:cNvPr>
          <p:cNvPicPr>
            <a:picLocks noChangeAspect="1"/>
          </p:cNvPicPr>
          <p:nvPr/>
        </p:nvPicPr>
        <p:blipFill>
          <a:blip r:embed="rId1"/>
          <a:srcRect l="-39" r="-39" t="0" b="0"/>
          <a:stretch/>
        </p:blipFill>
        <p:spPr>
          <a:xfrm>
            <a:off x="812800" y="3766542"/>
            <a:ext cx="10566400" cy="2203450"/>
          </a:xfrm>
          <a:prstGeom prst="roundRect">
            <a:avLst>
              <a:gd name="adj" fmla="val 4611"/>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05 · CONTAINERS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Small, non-root images</a:t>
            </a:r>
            <a:endParaRPr lang="en-US" sz="3600" dirty="0"/>
          </a:p>
        </p:txBody>
      </p:sp>
      <p:sp>
        <p:nvSpPr>
          <p:cNvPr id="4" name="Shape 2"/>
          <p:cNvSpPr/>
          <p:nvPr/>
        </p:nvSpPr>
        <p:spPr>
          <a:xfrm>
            <a:off x="815975" y="1989336"/>
            <a:ext cx="3414117" cy="1855291"/>
          </a:xfrm>
          <a:prstGeom prst="roundRect">
            <a:avLst>
              <a:gd name="adj" fmla="val 5305"/>
            </a:avLst>
          </a:prstGeom>
          <a:solidFill>
            <a:srgbClr val="FBFBF8"/>
          </a:solidFill>
          <a:ln w="6350">
            <a:solidFill>
              <a:srgbClr val="D9D7CE"/>
            </a:solidFill>
            <a:prstDash val="solid"/>
          </a:ln>
        </p:spPr>
      </p:sp>
      <p:pic>
        <p:nvPicPr>
          <p:cNvPr id="5" name="Image 0" descr="Lock">    </p:cNvPr>
          <p:cNvPicPr>
            <a:picLocks noChangeAspect="1"/>
          </p:cNvPicPr>
          <p:nvPr/>
        </p:nvPicPr>
        <p:blipFill>
          <a:blip r:embed="rId1"/>
          <a:srcRect l="0" r="0" t="0" b="0"/>
          <a:stretch/>
        </p:blipFill>
        <p:spPr>
          <a:xfrm>
            <a:off x="1073150" y="2246511"/>
            <a:ext cx="304800" cy="304800"/>
          </a:xfrm>
          <a:prstGeom prst="rect">
            <a:avLst/>
          </a:prstGeom>
        </p:spPr>
      </p:pic>
      <p:sp>
        <p:nvSpPr>
          <p:cNvPr id="6" name="Text 3"/>
          <p:cNvSpPr/>
          <p:nvPr/>
        </p:nvSpPr>
        <p:spPr>
          <a:xfrm>
            <a:off x="1073150" y="265291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A2E"/>
                </a:solidFill>
                <a:latin typeface="Space Grotesk" pitchFamily="34" charset="0"/>
                <a:ea typeface="Space Grotesk" pitchFamily="34" charset="-122"/>
                <a:cs typeface="Space Grotesk" pitchFamily="34" charset="-120"/>
              </a:rPr>
              <a:t>Backend</a:t>
            </a:r>
            <a:endParaRPr lang="en-US" sz="2200" dirty="0"/>
          </a:p>
        </p:txBody>
      </p:sp>
      <p:sp>
        <p:nvSpPr>
          <p:cNvPr id="7" name="Text 4"/>
          <p:cNvSpPr/>
          <p:nvPr/>
        </p:nvSpPr>
        <p:spPr>
          <a:xfrm>
            <a:off x="1073150" y="3089771"/>
            <a:ext cx="29867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python:3.12-slim, runs as unprivileged appuser (UID 1001)</a:t>
            </a:r>
            <a:endParaRPr lang="en-US" sz="1400" dirty="0"/>
          </a:p>
        </p:txBody>
      </p:sp>
      <p:sp>
        <p:nvSpPr>
          <p:cNvPr id="8" name="Shape 5"/>
          <p:cNvSpPr/>
          <p:nvPr/>
        </p:nvSpPr>
        <p:spPr>
          <a:xfrm>
            <a:off x="4388842" y="1989336"/>
            <a:ext cx="3414216" cy="1855291"/>
          </a:xfrm>
          <a:prstGeom prst="roundRect">
            <a:avLst>
              <a:gd name="adj" fmla="val 5305"/>
            </a:avLst>
          </a:prstGeom>
          <a:solidFill>
            <a:srgbClr val="FBFBF8"/>
          </a:solidFill>
          <a:ln w="6350">
            <a:solidFill>
              <a:srgbClr val="D9D7CE"/>
            </a:solidFill>
            <a:prstDash val="solid"/>
          </a:ln>
        </p:spPr>
      </p:sp>
      <p:pic>
        <p:nvPicPr>
          <p:cNvPr id="9" name="Image 1" descr="Lightning">    </p:cNvPr>
          <p:cNvPicPr>
            <a:picLocks noChangeAspect="1"/>
          </p:cNvPicPr>
          <p:nvPr/>
        </p:nvPicPr>
        <p:blipFill>
          <a:blip r:embed="rId2"/>
          <a:srcRect l="0" r="0" t="0" b="0"/>
          <a:stretch/>
        </p:blipFill>
        <p:spPr>
          <a:xfrm>
            <a:off x="4646017" y="2246511"/>
            <a:ext cx="304800" cy="304800"/>
          </a:xfrm>
          <a:prstGeom prst="rect">
            <a:avLst/>
          </a:prstGeom>
        </p:spPr>
      </p:pic>
      <p:sp>
        <p:nvSpPr>
          <p:cNvPr id="10" name="Text 6"/>
          <p:cNvSpPr/>
          <p:nvPr/>
        </p:nvSpPr>
        <p:spPr>
          <a:xfrm>
            <a:off x="4646017" y="26529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A2E"/>
                </a:solidFill>
                <a:latin typeface="Space Grotesk" pitchFamily="34" charset="0"/>
                <a:ea typeface="Space Grotesk" pitchFamily="34" charset="-122"/>
                <a:cs typeface="Space Grotesk" pitchFamily="34" charset="-120"/>
              </a:rPr>
              <a:t>Frontend</a:t>
            </a:r>
            <a:endParaRPr lang="en-US" sz="2200" dirty="0"/>
          </a:p>
        </p:txBody>
      </p:sp>
      <p:sp>
        <p:nvSpPr>
          <p:cNvPr id="11" name="Text 7"/>
          <p:cNvSpPr/>
          <p:nvPr/>
        </p:nvSpPr>
        <p:spPr>
          <a:xfrm>
            <a:off x="4646017" y="3089771"/>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multi-stage: node:20-alpine builds, nginx:1.27-alpine serves</a:t>
            </a:r>
            <a:endParaRPr lang="en-US" sz="1400" dirty="0"/>
          </a:p>
        </p:txBody>
      </p:sp>
      <p:sp>
        <p:nvSpPr>
          <p:cNvPr id="12" name="Shape 8"/>
          <p:cNvSpPr/>
          <p:nvPr/>
        </p:nvSpPr>
        <p:spPr>
          <a:xfrm>
            <a:off x="7961809" y="1989336"/>
            <a:ext cx="3414216" cy="1855291"/>
          </a:xfrm>
          <a:prstGeom prst="roundRect">
            <a:avLst>
              <a:gd name="adj" fmla="val 5305"/>
            </a:avLst>
          </a:prstGeom>
          <a:solidFill>
            <a:srgbClr val="FBFBF8"/>
          </a:solidFill>
          <a:ln w="6350">
            <a:solidFill>
              <a:srgbClr val="D9D7CE"/>
            </a:solidFill>
            <a:prstDash val="solid"/>
          </a:ln>
        </p:spPr>
      </p:sp>
      <p:pic>
        <p:nvPicPr>
          <p:cNvPr id="13" name="Image 2" descr="Search">    </p:cNvPr>
          <p:cNvPicPr>
            <a:picLocks noChangeAspect="1"/>
          </p:cNvPicPr>
          <p:nvPr/>
        </p:nvPicPr>
        <p:blipFill>
          <a:blip r:embed="rId3"/>
          <a:srcRect l="0" r="0" t="0" b="0"/>
          <a:stretch/>
        </p:blipFill>
        <p:spPr>
          <a:xfrm>
            <a:off x="8218984" y="2246511"/>
            <a:ext cx="304800" cy="304800"/>
          </a:xfrm>
          <a:prstGeom prst="rect">
            <a:avLst/>
          </a:prstGeom>
        </p:spPr>
      </p:pic>
      <p:sp>
        <p:nvSpPr>
          <p:cNvPr id="14" name="Text 9"/>
          <p:cNvSpPr/>
          <p:nvPr/>
        </p:nvSpPr>
        <p:spPr>
          <a:xfrm>
            <a:off x="8218984" y="26529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A2E"/>
                </a:solidFill>
                <a:latin typeface="Space Grotesk" pitchFamily="34" charset="0"/>
                <a:ea typeface="Space Grotesk" pitchFamily="34" charset="-122"/>
                <a:cs typeface="Space Grotesk" pitchFamily="34" charset="-120"/>
              </a:rPr>
              <a:t>.dockerignore</a:t>
            </a:r>
            <a:endParaRPr lang="en-US" sz="2200" dirty="0"/>
          </a:p>
        </p:txBody>
      </p:sp>
      <p:sp>
        <p:nvSpPr>
          <p:cNvPr id="15" name="Text 10"/>
          <p:cNvSpPr/>
          <p:nvPr/>
        </p:nvSpPr>
        <p:spPr>
          <a:xfrm>
            <a:off x="8218984" y="3089771"/>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keeps .env, .venv, node_modules and caches out of layers</a:t>
            </a:r>
            <a:endParaRPr lang="en-US" sz="1400" dirty="0"/>
          </a:p>
        </p:txBody>
      </p:sp>
      <p:sp>
        <p:nvSpPr>
          <p:cNvPr id="16" name="Shape 11"/>
          <p:cNvSpPr/>
          <p:nvPr/>
        </p:nvSpPr>
        <p:spPr>
          <a:xfrm>
            <a:off x="812800" y="4203402"/>
            <a:ext cx="10566400" cy="690860"/>
          </a:xfrm>
          <a:prstGeom prst="roundRect">
            <a:avLst>
              <a:gd name="adj" fmla="val 14706"/>
            </a:avLst>
          </a:prstGeom>
          <a:solidFill>
            <a:srgbClr val="141A2E"/>
          </a:solidFill>
          <a:ln/>
        </p:spPr>
      </p:sp>
      <p:sp>
        <p:nvSpPr>
          <p:cNvPr id="17" name="Text 12"/>
          <p:cNvSpPr/>
          <p:nvPr/>
        </p:nvSpPr>
        <p:spPr>
          <a:xfrm>
            <a:off x="1066800" y="4406602"/>
            <a:ext cx="395025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JetBrains Mono" pitchFamily="49" charset="0"/>
                <a:ea typeface="JetBrains Mono" pitchFamily="49" charset="-122"/>
                <a:cs typeface="JetBrains Mono" pitchFamily="49" charset="-120"/>
              </a:rPr>
              <a:t>$ docker compose up --build</a:t>
            </a:r>
            <a:endParaRPr lang="en-US" sz="1600" dirty="0"/>
          </a:p>
        </p:txBody>
      </p:sp>
      <p:sp>
        <p:nvSpPr>
          <p:cNvPr id="18" name="Text 13"/>
          <p:cNvSpPr/>
          <p:nvPr/>
        </p:nvSpPr>
        <p:spPr>
          <a:xfrm>
            <a:off x="7423547" y="4424363"/>
            <a:ext cx="395565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whole stack locally on :3000, :8000 and :5432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CFA"/>
                </a:solidFill>
                <a:latin typeface="JetBrains Mono" pitchFamily="49" charset="0"/>
                <a:ea typeface="JetBrains Mono" pitchFamily="49" charset="-122"/>
                <a:cs typeface="JetBrains Mono" pitchFamily="49" charset="-120"/>
              </a:rPr>
              <a:t>06 · CI/CD</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4EF"/>
                </a:solidFill>
                <a:latin typeface="Space Grotesk" pitchFamily="34" charset="0"/>
                <a:ea typeface="Space Grotesk" pitchFamily="34" charset="-122"/>
                <a:cs typeface="Space Grotesk" pitchFamily="34" charset="-120"/>
              </a:rPr>
              <a:t>Every push runs four jobs</a:t>
            </a:r>
            <a:endParaRPr lang="en-US" sz="3600" dirty="0"/>
          </a:p>
        </p:txBody>
      </p:sp>
      <p:sp>
        <p:nvSpPr>
          <p:cNvPr id="4" name="Shape 2"/>
          <p:cNvSpPr/>
          <p:nvPr/>
        </p:nvSpPr>
        <p:spPr>
          <a:xfrm>
            <a:off x="812800" y="2578596"/>
            <a:ext cx="3556000" cy="0"/>
          </a:xfrm>
          <a:prstGeom prst="line">
            <a:avLst/>
          </a:prstGeom>
          <a:noFill/>
          <a:ln w="6350">
            <a:solidFill>
              <a:srgbClr val="343D63"/>
            </a:solidFill>
            <a:prstDash val="solid"/>
          </a:ln>
        </p:spPr>
      </p:sp>
      <p:sp>
        <p:nvSpPr>
          <p:cNvPr id="5" name="Text 3"/>
          <p:cNvSpPr/>
          <p:nvPr/>
        </p:nvSpPr>
        <p:spPr>
          <a:xfrm>
            <a:off x="812800" y="2138561"/>
            <a:ext cx="1727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A"/>
                </a:solidFill>
                <a:latin typeface="JetBrains Mono" pitchFamily="49" charset="0"/>
                <a:ea typeface="JetBrains Mono" pitchFamily="49" charset="-122"/>
                <a:cs typeface="JetBrains Mono" pitchFamily="49" charset="-120"/>
              </a:rPr>
              <a:t>1</a:t>
            </a:r>
            <a:endParaRPr lang="en-US" sz="1600" dirty="0"/>
          </a:p>
        </p:txBody>
      </p:sp>
      <p:sp>
        <p:nvSpPr>
          <p:cNvPr id="6" name="Text 4"/>
          <p:cNvSpPr/>
          <p:nvPr/>
        </p:nvSpPr>
        <p:spPr>
          <a:xfrm>
            <a:off x="1061740" y="2138561"/>
            <a:ext cx="29928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IBM Plex Sans" pitchFamily="34" charset="0"/>
                <a:ea typeface="IBM Plex Sans" pitchFamily="34" charset="-122"/>
                <a:cs typeface="IBM Plex Sans" pitchFamily="34" charset="-120"/>
              </a:rPr>
              <a:t>test</a:t>
            </a:r>
            <a:endParaRPr lang="en-US" sz="1600" dirty="0"/>
          </a:p>
        </p:txBody>
      </p:sp>
      <p:sp>
        <p:nvSpPr>
          <p:cNvPr id="7" name="Text 5"/>
          <p:cNvSpPr/>
          <p:nvPr/>
        </p:nvSpPr>
        <p:spPr>
          <a:xfrm>
            <a:off x="4094460" y="2174081"/>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1B5"/>
                </a:solidFill>
                <a:latin typeface="JetBrains Mono" pitchFamily="49" charset="0"/>
                <a:ea typeface="JetBrains Mono" pitchFamily="49" charset="-122"/>
                <a:cs typeface="JetBrains Mono" pitchFamily="49" charset="-120"/>
              </a:rPr>
              <a:t>14s</a:t>
            </a:r>
            <a:endParaRPr lang="en-US" sz="1200" dirty="0"/>
          </a:p>
        </p:txBody>
      </p:sp>
      <p:sp>
        <p:nvSpPr>
          <p:cNvPr id="8" name="Shape 6"/>
          <p:cNvSpPr/>
          <p:nvPr/>
        </p:nvSpPr>
        <p:spPr>
          <a:xfrm>
            <a:off x="812800" y="3174206"/>
            <a:ext cx="3556000" cy="0"/>
          </a:xfrm>
          <a:prstGeom prst="line">
            <a:avLst/>
          </a:prstGeom>
          <a:noFill/>
          <a:ln w="6350">
            <a:solidFill>
              <a:srgbClr val="343D63"/>
            </a:solidFill>
            <a:prstDash val="solid"/>
          </a:ln>
        </p:spPr>
      </p:sp>
      <p:sp>
        <p:nvSpPr>
          <p:cNvPr id="9" name="Text 7"/>
          <p:cNvSpPr/>
          <p:nvPr/>
        </p:nvSpPr>
        <p:spPr>
          <a:xfrm>
            <a:off x="812800" y="2734171"/>
            <a:ext cx="1727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A"/>
                </a:solidFill>
                <a:latin typeface="JetBrains Mono" pitchFamily="49" charset="0"/>
                <a:ea typeface="JetBrains Mono" pitchFamily="49" charset="-122"/>
                <a:cs typeface="JetBrains Mono" pitchFamily="49" charset="-120"/>
              </a:rPr>
              <a:t>2</a:t>
            </a:r>
            <a:endParaRPr lang="en-US" sz="1600" dirty="0"/>
          </a:p>
        </p:txBody>
      </p:sp>
      <p:sp>
        <p:nvSpPr>
          <p:cNvPr id="10" name="Text 8"/>
          <p:cNvSpPr/>
          <p:nvPr/>
        </p:nvSpPr>
        <p:spPr>
          <a:xfrm>
            <a:off x="1061740" y="2734171"/>
            <a:ext cx="271032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IBM Plex Sans" pitchFamily="34" charset="0"/>
                <a:ea typeface="IBM Plex Sans" pitchFamily="34" charset="-122"/>
                <a:cs typeface="IBM Plex Sans" pitchFamily="34" charset="-120"/>
              </a:rPr>
              <a:t>build-frontend</a:t>
            </a:r>
            <a:endParaRPr lang="en-US" sz="1600" dirty="0"/>
          </a:p>
        </p:txBody>
      </p:sp>
      <p:sp>
        <p:nvSpPr>
          <p:cNvPr id="11" name="Text 9"/>
          <p:cNvSpPr/>
          <p:nvPr/>
        </p:nvSpPr>
        <p:spPr>
          <a:xfrm>
            <a:off x="3820120" y="2769691"/>
            <a:ext cx="5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1B5"/>
                </a:solidFill>
                <a:latin typeface="JetBrains Mono" pitchFamily="49" charset="0"/>
                <a:ea typeface="JetBrains Mono" pitchFamily="49" charset="-122"/>
                <a:cs typeface="JetBrains Mono" pitchFamily="49" charset="-120"/>
              </a:rPr>
              <a:t>1m 37s</a:t>
            </a:r>
            <a:endParaRPr lang="en-US" sz="1200" dirty="0"/>
          </a:p>
        </p:txBody>
      </p:sp>
      <p:sp>
        <p:nvSpPr>
          <p:cNvPr id="12" name="Shape 10"/>
          <p:cNvSpPr/>
          <p:nvPr/>
        </p:nvSpPr>
        <p:spPr>
          <a:xfrm>
            <a:off x="812800" y="3769816"/>
            <a:ext cx="3556000" cy="0"/>
          </a:xfrm>
          <a:prstGeom prst="line">
            <a:avLst/>
          </a:prstGeom>
          <a:noFill/>
          <a:ln w="6350">
            <a:solidFill>
              <a:srgbClr val="343D63"/>
            </a:solidFill>
            <a:prstDash val="solid"/>
          </a:ln>
        </p:spPr>
      </p:sp>
      <p:sp>
        <p:nvSpPr>
          <p:cNvPr id="13" name="Text 11"/>
          <p:cNvSpPr/>
          <p:nvPr/>
        </p:nvSpPr>
        <p:spPr>
          <a:xfrm>
            <a:off x="812800" y="3329781"/>
            <a:ext cx="1727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A"/>
                </a:solidFill>
                <a:latin typeface="JetBrains Mono" pitchFamily="49" charset="0"/>
                <a:ea typeface="JetBrains Mono" pitchFamily="49" charset="-122"/>
                <a:cs typeface="JetBrains Mono" pitchFamily="49" charset="-120"/>
              </a:rPr>
              <a:t>3</a:t>
            </a:r>
            <a:endParaRPr lang="en-US" sz="1600" dirty="0"/>
          </a:p>
        </p:txBody>
      </p:sp>
      <p:sp>
        <p:nvSpPr>
          <p:cNvPr id="14" name="Text 12"/>
          <p:cNvSpPr/>
          <p:nvPr/>
        </p:nvSpPr>
        <p:spPr>
          <a:xfrm>
            <a:off x="1061740" y="3329781"/>
            <a:ext cx="271032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IBM Plex Sans" pitchFamily="34" charset="0"/>
                <a:ea typeface="IBM Plex Sans" pitchFamily="34" charset="-122"/>
                <a:cs typeface="IBM Plex Sans" pitchFamily="34" charset="-120"/>
              </a:rPr>
              <a:t>build-and-push</a:t>
            </a:r>
            <a:endParaRPr lang="en-US" sz="1600" dirty="0"/>
          </a:p>
        </p:txBody>
      </p:sp>
      <p:sp>
        <p:nvSpPr>
          <p:cNvPr id="15" name="Text 13"/>
          <p:cNvSpPr/>
          <p:nvPr/>
        </p:nvSpPr>
        <p:spPr>
          <a:xfrm>
            <a:off x="3820120" y="3365302"/>
            <a:ext cx="5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1B5"/>
                </a:solidFill>
                <a:latin typeface="JetBrains Mono" pitchFamily="49" charset="0"/>
                <a:ea typeface="JetBrains Mono" pitchFamily="49" charset="-122"/>
                <a:cs typeface="JetBrains Mono" pitchFamily="49" charset="-120"/>
              </a:rPr>
              <a:t>2m 38s</a:t>
            </a:r>
            <a:endParaRPr lang="en-US" sz="1200" dirty="0"/>
          </a:p>
        </p:txBody>
      </p:sp>
      <p:sp>
        <p:nvSpPr>
          <p:cNvPr id="16" name="Shape 14"/>
          <p:cNvSpPr/>
          <p:nvPr/>
        </p:nvSpPr>
        <p:spPr>
          <a:xfrm>
            <a:off x="812800" y="4365427"/>
            <a:ext cx="3556000" cy="0"/>
          </a:xfrm>
          <a:prstGeom prst="line">
            <a:avLst/>
          </a:prstGeom>
          <a:noFill/>
          <a:ln w="6350">
            <a:solidFill>
              <a:srgbClr val="343D63"/>
            </a:solidFill>
            <a:prstDash val="solid"/>
          </a:ln>
        </p:spPr>
      </p:sp>
      <p:sp>
        <p:nvSpPr>
          <p:cNvPr id="17" name="Text 15"/>
          <p:cNvSpPr/>
          <p:nvPr/>
        </p:nvSpPr>
        <p:spPr>
          <a:xfrm>
            <a:off x="812800" y="3925391"/>
            <a:ext cx="1727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A"/>
                </a:solidFill>
                <a:latin typeface="JetBrains Mono" pitchFamily="49" charset="0"/>
                <a:ea typeface="JetBrains Mono" pitchFamily="49" charset="-122"/>
                <a:cs typeface="JetBrains Mono" pitchFamily="49" charset="-120"/>
              </a:rPr>
              <a:t>4</a:t>
            </a:r>
            <a:endParaRPr lang="en-US" sz="1600" dirty="0"/>
          </a:p>
        </p:txBody>
      </p:sp>
      <p:sp>
        <p:nvSpPr>
          <p:cNvPr id="18" name="Text 16"/>
          <p:cNvSpPr/>
          <p:nvPr/>
        </p:nvSpPr>
        <p:spPr>
          <a:xfrm>
            <a:off x="1061740" y="3925391"/>
            <a:ext cx="29928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IBM Plex Sans" pitchFamily="34" charset="0"/>
                <a:ea typeface="IBM Plex Sans" pitchFamily="34" charset="-122"/>
                <a:cs typeface="IBM Plex Sans" pitchFamily="34" charset="-120"/>
              </a:rPr>
              <a:t>security-scan</a:t>
            </a:r>
            <a:endParaRPr lang="en-US" sz="1600" dirty="0"/>
          </a:p>
        </p:txBody>
      </p:sp>
      <p:sp>
        <p:nvSpPr>
          <p:cNvPr id="19" name="Text 17"/>
          <p:cNvSpPr/>
          <p:nvPr/>
        </p:nvSpPr>
        <p:spPr>
          <a:xfrm>
            <a:off x="4094460" y="3960912"/>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1B5"/>
                </a:solidFill>
                <a:latin typeface="JetBrains Mono" pitchFamily="49" charset="0"/>
                <a:ea typeface="JetBrains Mono" pitchFamily="49" charset="-122"/>
                <a:cs typeface="JetBrains Mono" pitchFamily="49" charset="-120"/>
              </a:rPr>
              <a:t>40s</a:t>
            </a:r>
            <a:endParaRPr lang="en-US" sz="1200" dirty="0"/>
          </a:p>
        </p:txBody>
      </p:sp>
      <p:sp>
        <p:nvSpPr>
          <p:cNvPr id="20" name="Text 18"/>
          <p:cNvSpPr/>
          <p:nvPr/>
        </p:nvSpPr>
        <p:spPr>
          <a:xfrm>
            <a:off x="812800" y="4571802"/>
            <a:ext cx="36626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Images go to GHCR tagged with </a:t>
            </a:r>
            <a:r>
              <a:rPr lang="en-US" sz="1400" b="1" dirty="0">
                <a:solidFill>
                  <a:srgbClr val="F2A65A"/>
                </a:solidFill>
                <a:latin typeface="IBM Plex Sans" pitchFamily="34" charset="0"/>
                <a:ea typeface="IBM Plex Sans" pitchFamily="34" charset="-122"/>
                <a:cs typeface="IBM Plex Sans" pitchFamily="34" charset="-120"/>
              </a:rPr>
              <a:t>${{ github.sha }}</a:t>
            </a:r>
            <a:r>
              <a:rPr lang="en-US" sz="1400" dirty="0">
                <a:solidFill>
                  <a:srgbClr val="C9CCD8"/>
                </a:solidFill>
                <a:latin typeface="IBM Plex Sans" pitchFamily="34" charset="0"/>
                <a:ea typeface="IBM Plex Sans" pitchFamily="34" charset="-122"/>
                <a:cs typeface="IBM Plex Sans" pitchFamily="34" charset="-120"/>
              </a:rPr>
              <a:t>, so every pod traces back to one commit.</a:t>
            </a:r>
            <a:endParaRPr lang="en-US" sz="1400" dirty="0"/>
          </a:p>
        </p:txBody>
      </p:sp>
      <p:pic>
        <p:nvPicPr>
          <p:cNvPr id="21" name="Image 0" descr="GitHub Actions run BookShelf CI/CD #1: test, build-frontend, build-and-push and security-scan all succeeded in 5m 6s">    </p:cNvPr>
          <p:cNvPicPr>
            <a:picLocks noChangeAspect="1"/>
          </p:cNvPicPr>
          <p:nvPr/>
        </p:nvPicPr>
        <p:blipFill>
          <a:blip r:embed="rId1"/>
          <a:srcRect l="0" r="0" t="37" b="37"/>
          <a:stretch/>
        </p:blipFill>
        <p:spPr>
          <a:xfrm>
            <a:off x="4730750" y="1992511"/>
            <a:ext cx="6642100" cy="3765550"/>
          </a:xfrm>
          <a:prstGeom prst="roundRect">
            <a:avLst>
              <a:gd name="adj" fmla="val 2530"/>
            </a:avLst>
          </a:prstGeom>
        </p:spPr>
      </p:pic>
      <p:sp>
        <p:nvSpPr>
          <p:cNvPr id="22" name="Shape 19"/>
          <p:cNvSpPr/>
          <p:nvPr/>
        </p:nvSpPr>
        <p:spPr>
          <a:xfrm>
            <a:off x="4727575" y="1989336"/>
            <a:ext cx="6648450" cy="3771900"/>
          </a:xfrm>
          <a:prstGeom prst="roundRect">
            <a:avLst>
              <a:gd name="adj" fmla="val 2609"/>
            </a:avLst>
          </a:prstGeom>
          <a:noFill/>
          <a:ln w="6350">
            <a:solidFill>
              <a:srgbClr val="343D63"/>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07 · DEVSECOPS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Scanning every image</a:t>
            </a:r>
            <a:endParaRPr lang="en-US" sz="3600" dirty="0"/>
          </a:p>
        </p:txBody>
      </p:sp>
      <p:sp>
        <p:nvSpPr>
          <p:cNvPr id="4" name="Text 2"/>
          <p:cNvSpPr/>
          <p:nvPr/>
        </p:nvSpPr>
        <p:spPr>
          <a:xfrm>
            <a:off x="812800" y="1986161"/>
            <a:ext cx="42382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Trivy in the pipeline</a:t>
            </a:r>
            <a:endParaRPr lang="en-US" sz="1600" dirty="0"/>
          </a:p>
        </p:txBody>
      </p:sp>
      <p:sp>
        <p:nvSpPr>
          <p:cNvPr id="5" name="Text 3"/>
          <p:cNvSpPr/>
          <p:nvPr/>
        </p:nvSpPr>
        <p:spPr>
          <a:xfrm>
            <a:off x="812800" y="2280741"/>
            <a:ext cx="423824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Both images scanned for HIGH and CRITICAL CVEs in OS packages and libraries</a:t>
            </a:r>
            <a:endParaRPr lang="en-US" sz="1400" dirty="0"/>
          </a:p>
        </p:txBody>
      </p:sp>
      <p:sp>
        <p:nvSpPr>
          <p:cNvPr id="6" name="Text 4"/>
          <p:cNvSpPr/>
          <p:nvPr/>
        </p:nvSpPr>
        <p:spPr>
          <a:xfrm>
            <a:off x="812800" y="2956223"/>
            <a:ext cx="42382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2E"/>
                </a:solidFill>
                <a:latin typeface="Space Grotesk" pitchFamily="34" charset="0"/>
                <a:ea typeface="Space Grotesk" pitchFamily="34" charset="-122"/>
                <a:cs typeface="Space Grotesk" pitchFamily="34" charset="-120"/>
              </a:rPr>
              <a:t>Small attack surface</a:t>
            </a:r>
            <a:endParaRPr lang="en-US" sz="1600" dirty="0"/>
          </a:p>
        </p:txBody>
      </p:sp>
      <p:sp>
        <p:nvSpPr>
          <p:cNvPr id="7" name="Text 5"/>
          <p:cNvSpPr/>
          <p:nvPr/>
        </p:nvSpPr>
        <p:spPr>
          <a:xfrm>
            <a:off x="812800" y="3250803"/>
            <a:ext cx="423824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Alpine and slim bases, pinned dependencies, non-root users</a:t>
            </a:r>
            <a:endParaRPr lang="en-US" sz="1400" dirty="0"/>
          </a:p>
        </p:txBody>
      </p:sp>
      <p:sp>
        <p:nvSpPr>
          <p:cNvPr id="8" name="Shape 6"/>
          <p:cNvSpPr/>
          <p:nvPr/>
        </p:nvSpPr>
        <p:spPr>
          <a:xfrm>
            <a:off x="812800" y="3926284"/>
            <a:ext cx="4114800" cy="1097062"/>
          </a:xfrm>
          <a:prstGeom prst="roundRect">
            <a:avLst>
              <a:gd name="adj" fmla="val 4631"/>
            </a:avLst>
          </a:prstGeom>
          <a:solidFill>
            <a:srgbClr val="FDEBD8"/>
          </a:solidFill>
          <a:ln/>
        </p:spPr>
      </p:sp>
      <p:sp>
        <p:nvSpPr>
          <p:cNvPr id="9" name="Shape 7"/>
          <p:cNvSpPr/>
          <p:nvPr/>
        </p:nvSpPr>
        <p:spPr>
          <a:xfrm>
            <a:off x="812800" y="3926284"/>
            <a:ext cx="4114800" cy="1097062"/>
          </a:xfrm>
          <a:custGeom>
            <a:avLst/>
            <a:gdLst/>
            <a:ahLst/>
            <a:cxnLst/>
            <a:rect l="l" t="t" r="r" b="b"/>
            <a:pathLst>
              <a:path w="4114800" h="1097062">
                <a:moveTo>
                  <a:pt x="50800" y="1097062"/>
                </a:moveTo>
                <a:lnTo>
                  <a:pt x="50800" y="1097062"/>
                </a:lnTo>
                <a:arcTo hR="50800" wR="50800" stAng="5400000" swAng="5400000"/>
                <a:lnTo>
                  <a:pt x="0" y="50800"/>
                </a:lnTo>
                <a:arcTo hR="50800" wR="50800" stAng="10800000" swAng="5400000"/>
                <a:lnTo>
                  <a:pt x="50800" y="0"/>
                </a:lnTo>
                <a:arcTo hR="50800" wR="12700" stAng="16200000" swAng="-5400000"/>
                <a:lnTo>
                  <a:pt x="38100" y="1046262"/>
                </a:lnTo>
                <a:arcTo hR="50800" wR="12700" stAng="10800000" swAng="-5400000"/>
                <a:close/>
              </a:path>
            </a:pathLst>
          </a:custGeom>
          <a:solidFill>
            <a:srgbClr val="C46A1B"/>
          </a:solidFill>
          <a:ln/>
        </p:spPr>
      </p:sp>
      <p:sp>
        <p:nvSpPr>
          <p:cNvPr id="10" name="Text 8"/>
          <p:cNvSpPr/>
          <p:nvPr/>
        </p:nvSpPr>
        <p:spPr>
          <a:xfrm>
            <a:off x="1028700" y="4078684"/>
            <a:ext cx="38327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3E0C"/>
                </a:solidFill>
                <a:latin typeface="Space Grotesk" pitchFamily="34" charset="0"/>
                <a:ea typeface="Space Grotesk" pitchFamily="34" charset="-122"/>
                <a:cs typeface="Space Grotesk" pitchFamily="34" charset="-120"/>
              </a:rPr>
              <a:t>A real gate</a:t>
            </a:r>
            <a:endParaRPr lang="en-US" sz="1600" dirty="0"/>
          </a:p>
        </p:txBody>
      </p:sp>
      <p:sp>
        <p:nvSpPr>
          <p:cNvPr id="11" name="Text 9"/>
          <p:cNvSpPr/>
          <p:nvPr/>
        </p:nvSpPr>
        <p:spPr>
          <a:xfrm>
            <a:off x="1028700" y="4373265"/>
            <a:ext cx="38327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2E08"/>
                </a:solidFill>
                <a:latin typeface="IBM Plex Sans" pitchFamily="34" charset="0"/>
                <a:ea typeface="IBM Plex Sans" pitchFamily="34" charset="-122"/>
                <a:cs typeface="IBM Plex Sans" pitchFamily="34" charset="-120"/>
              </a:rPr>
              <a:t>exit-code 1: any fixable HIGH or CRITICAL CVE fails the pipeline.</a:t>
            </a:r>
            <a:endParaRPr lang="en-US" sz="1400" dirty="0"/>
          </a:p>
        </p:txBody>
      </p:sp>
      <p:pic>
        <p:nvPicPr>
          <p:cNvPr id="12" name="Image 0" descr="GitHub Actions security-scan job: Trivy scan of the backend image and the frontend image both succeeded">    </p:cNvPr>
          <p:cNvPicPr>
            <a:picLocks noChangeAspect="1"/>
          </p:cNvPicPr>
          <p:nvPr/>
        </p:nvPicPr>
        <p:blipFill>
          <a:blip r:embed="rId1"/>
          <a:srcRect l="0" r="0" t="84" b="84"/>
          <a:stretch/>
        </p:blipFill>
        <p:spPr>
          <a:xfrm>
            <a:off x="5289550" y="1992511"/>
            <a:ext cx="6083300" cy="3429000"/>
          </a:xfrm>
          <a:prstGeom prst="roundRect">
            <a:avLst>
              <a:gd name="adj" fmla="val 2778"/>
            </a:avLst>
          </a:prstGeom>
        </p:spPr>
      </p:pic>
      <p:sp>
        <p:nvSpPr>
          <p:cNvPr id="13" name="Shape 10"/>
          <p:cNvSpPr/>
          <p:nvPr/>
        </p:nvSpPr>
        <p:spPr>
          <a:xfrm>
            <a:off x="5286375" y="1989336"/>
            <a:ext cx="6089650" cy="3435350"/>
          </a:xfrm>
          <a:prstGeom prst="roundRect">
            <a:avLst>
              <a:gd name="adj" fmla="val 2865"/>
            </a:avLst>
          </a:prstGeom>
          <a:noFill/>
          <a:ln w="6350">
            <a:solidFill>
              <a:srgbClr val="D9D7CE"/>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08 · INFRASTRUCTURE AS CODE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AWS, built by Terraform</a:t>
            </a:r>
            <a:endParaRPr lang="en-US" sz="3600" dirty="0"/>
          </a:p>
        </p:txBody>
      </p:sp>
      <p:sp>
        <p:nvSpPr>
          <p:cNvPr id="4" name="Text 2"/>
          <p:cNvSpPr/>
          <p:nvPr/>
        </p:nvSpPr>
        <p:spPr>
          <a:xfrm>
            <a:off x="812800" y="1986161"/>
            <a:ext cx="3302000" cy="502841"/>
          </a:xfrm>
          <a:prstGeom prst="roundRect">
            <a:avLst>
              <a:gd name="adj" fmla="val 15154"/>
            </a:avLst>
          </a:prstGeom>
          <a:solidFill>
            <a:srgbClr val="141A2E"/>
          </a:solidFill>
          <a:ln/>
        </p:spPr>
        <p:txBody>
          <a:bodyPr wrap="square" lIns="155482" tIns="104682" rIns="67090" bIns="79282" rtlCol="0" anchor="t">
            <a:normAutofit/>
          </a:bodyPr>
          <a:lstStyle/>
          <a:p>
            <a:pPr algn="l" indent="0" marL="0">
              <a:lnSpc>
                <a:spcPts val="1960"/>
              </a:lnSpc>
              <a:buNone/>
            </a:pPr>
            <a:r>
              <a:rPr lang="en-US" sz="1400" dirty="0">
                <a:solidFill>
                  <a:srgbClr val="F5F4EF"/>
                </a:solidFill>
                <a:latin typeface="JetBrains Mono" pitchFamily="49" charset="0"/>
                <a:ea typeface="JetBrains Mono" pitchFamily="49" charset="-122"/>
                <a:cs typeface="JetBrains Mono" pitchFamily="49" charset="-120"/>
              </a:rPr>
              <a:t>terraform init</a:t>
            </a:r>
            <a:endParaRPr lang="en-US" sz="1400" dirty="0"/>
          </a:p>
        </p:txBody>
      </p:sp>
      <p:sp>
        <p:nvSpPr>
          <p:cNvPr id="5" name="Text 3"/>
          <p:cNvSpPr/>
          <p:nvPr/>
        </p:nvSpPr>
        <p:spPr>
          <a:xfrm>
            <a:off x="812800" y="2590602"/>
            <a:ext cx="3302000" cy="502841"/>
          </a:xfrm>
          <a:prstGeom prst="roundRect">
            <a:avLst>
              <a:gd name="adj" fmla="val 15154"/>
            </a:avLst>
          </a:prstGeom>
          <a:solidFill>
            <a:srgbClr val="141A2E"/>
          </a:solidFill>
          <a:ln/>
        </p:spPr>
        <p:txBody>
          <a:bodyPr wrap="square" lIns="155482" tIns="104682" rIns="67090" bIns="79282" rtlCol="0" anchor="t">
            <a:normAutofit/>
          </a:bodyPr>
          <a:lstStyle/>
          <a:p>
            <a:pPr algn="l" indent="0" marL="0">
              <a:lnSpc>
                <a:spcPts val="1960"/>
              </a:lnSpc>
              <a:buNone/>
            </a:pPr>
            <a:r>
              <a:rPr lang="en-US" sz="1400" dirty="0">
                <a:solidFill>
                  <a:srgbClr val="F5F4EF"/>
                </a:solidFill>
                <a:latin typeface="JetBrains Mono" pitchFamily="49" charset="0"/>
                <a:ea typeface="JetBrains Mono" pitchFamily="49" charset="-122"/>
                <a:cs typeface="JetBrains Mono" pitchFamily="49" charset="-120"/>
              </a:rPr>
              <a:t>terraform plan</a:t>
            </a:r>
            <a:endParaRPr lang="en-US" sz="1400" dirty="0"/>
          </a:p>
        </p:txBody>
      </p:sp>
      <p:sp>
        <p:nvSpPr>
          <p:cNvPr id="6" name="Text 4"/>
          <p:cNvSpPr/>
          <p:nvPr/>
        </p:nvSpPr>
        <p:spPr>
          <a:xfrm>
            <a:off x="812800" y="3195042"/>
            <a:ext cx="3302000" cy="502841"/>
          </a:xfrm>
          <a:prstGeom prst="roundRect">
            <a:avLst>
              <a:gd name="adj" fmla="val 15154"/>
            </a:avLst>
          </a:prstGeom>
          <a:solidFill>
            <a:srgbClr val="141A2E"/>
          </a:solidFill>
          <a:ln/>
        </p:spPr>
        <p:txBody>
          <a:bodyPr wrap="square" lIns="155482" tIns="104682" rIns="67090" bIns="79282" rtlCol="0" anchor="t">
            <a:normAutofit/>
          </a:bodyPr>
          <a:lstStyle/>
          <a:p>
            <a:pPr algn="l" indent="0" marL="0">
              <a:lnSpc>
                <a:spcPts val="1960"/>
              </a:lnSpc>
              <a:buNone/>
            </a:pPr>
            <a:r>
              <a:rPr lang="en-US" sz="1400" dirty="0">
                <a:solidFill>
                  <a:srgbClr val="F5F4EF"/>
                </a:solidFill>
                <a:latin typeface="JetBrains Mono" pitchFamily="49" charset="0"/>
                <a:ea typeface="JetBrains Mono" pitchFamily="49" charset="-122"/>
                <a:cs typeface="JetBrains Mono" pitchFamily="49" charset="-120"/>
              </a:rPr>
              <a:t>terraform apply</a:t>
            </a:r>
            <a:endParaRPr lang="en-US" sz="1400" dirty="0"/>
          </a:p>
        </p:txBody>
      </p:sp>
      <p:sp>
        <p:nvSpPr>
          <p:cNvPr id="7" name="Text 5"/>
          <p:cNvSpPr/>
          <p:nvPr/>
        </p:nvSpPr>
        <p:spPr>
          <a:xfrm>
            <a:off x="812800" y="3799483"/>
            <a:ext cx="3302000" cy="502841"/>
          </a:xfrm>
          <a:prstGeom prst="roundRect">
            <a:avLst>
              <a:gd name="adj" fmla="val 15154"/>
            </a:avLst>
          </a:prstGeom>
          <a:solidFill>
            <a:srgbClr val="141A2E"/>
          </a:solidFill>
          <a:ln/>
        </p:spPr>
        <p:txBody>
          <a:bodyPr wrap="square" lIns="155482" tIns="104682" rIns="67090" bIns="79282" rtlCol="0" anchor="t">
            <a:normAutofit/>
          </a:bodyPr>
          <a:lstStyle/>
          <a:p>
            <a:pPr algn="l" indent="0" marL="0">
              <a:lnSpc>
                <a:spcPts val="1960"/>
              </a:lnSpc>
              <a:buNone/>
            </a:pPr>
            <a:r>
              <a:rPr lang="en-US" sz="1400" dirty="0">
                <a:solidFill>
                  <a:srgbClr val="F5F4EF"/>
                </a:solidFill>
                <a:latin typeface="JetBrains Mono" pitchFamily="49" charset="0"/>
                <a:ea typeface="JetBrains Mono" pitchFamily="49" charset="-122"/>
                <a:cs typeface="JetBrains Mono" pitchFamily="49" charset="-120"/>
              </a:rPr>
              <a:t>aws eks update-kubeconfig</a:t>
            </a:r>
            <a:endParaRPr lang="en-US" sz="1400" dirty="0"/>
          </a:p>
        </p:txBody>
      </p:sp>
      <p:sp>
        <p:nvSpPr>
          <p:cNvPr id="8" name="Text 6"/>
          <p:cNvSpPr/>
          <p:nvPr/>
        </p:nvSpPr>
        <p:spPr>
          <a:xfrm>
            <a:off x="812800" y="4403923"/>
            <a:ext cx="3302000" cy="502841"/>
          </a:xfrm>
          <a:prstGeom prst="roundRect">
            <a:avLst>
              <a:gd name="adj" fmla="val 15154"/>
            </a:avLst>
          </a:prstGeom>
          <a:solidFill>
            <a:srgbClr val="FDEBD8"/>
          </a:solidFill>
          <a:ln/>
        </p:spPr>
        <p:txBody>
          <a:bodyPr wrap="square" lIns="155482" tIns="104682" rIns="67090" bIns="79282" rtlCol="0" anchor="t">
            <a:normAutofit/>
          </a:bodyPr>
          <a:lstStyle/>
          <a:p>
            <a:pPr algn="l" indent="0" marL="0">
              <a:lnSpc>
                <a:spcPts val="1960"/>
              </a:lnSpc>
              <a:buNone/>
            </a:pPr>
            <a:r>
              <a:rPr lang="en-US" sz="1400" dirty="0">
                <a:solidFill>
                  <a:srgbClr val="141A2E"/>
                </a:solidFill>
                <a:latin typeface="JetBrains Mono" pitchFamily="49" charset="0"/>
                <a:ea typeface="JetBrains Mono" pitchFamily="49" charset="-122"/>
                <a:cs typeface="JetBrains Mono" pitchFamily="49" charset="-120"/>
              </a:rPr>
              <a:t>terraform destroy</a:t>
            </a:r>
            <a:endParaRPr lang="en-US" sz="1400" dirty="0"/>
          </a:p>
        </p:txBody>
      </p:sp>
      <p:sp>
        <p:nvSpPr>
          <p:cNvPr id="9" name="Text 7"/>
          <p:cNvSpPr/>
          <p:nvPr/>
        </p:nvSpPr>
        <p:spPr>
          <a:xfrm>
            <a:off x="812800" y="5008364"/>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Destroy after every session to stop AWS billing.</a:t>
            </a:r>
            <a:endParaRPr lang="en-US" sz="1200" dirty="0"/>
          </a:p>
        </p:txBody>
      </p:sp>
      <p:sp>
        <p:nvSpPr>
          <p:cNvPr id="10" name="Shape 8"/>
          <p:cNvSpPr/>
          <p:nvPr/>
        </p:nvSpPr>
        <p:spPr>
          <a:xfrm>
            <a:off x="4476750" y="1992511"/>
            <a:ext cx="6896100" cy="3619202"/>
          </a:xfrm>
          <a:prstGeom prst="roundRect">
            <a:avLst>
              <a:gd name="adj" fmla="val 3334"/>
            </a:avLst>
          </a:prstGeom>
          <a:solidFill>
            <a:srgbClr val="FBFBF8"/>
          </a:solidFill>
          <a:ln w="12700">
            <a:solidFill>
              <a:srgbClr val="C46A1B"/>
            </a:solidFill>
            <a:prstDash val="solid"/>
          </a:ln>
        </p:spPr>
      </p:sp>
      <p:sp>
        <p:nvSpPr>
          <p:cNvPr id="11" name="Text 9"/>
          <p:cNvSpPr/>
          <p:nvPr/>
        </p:nvSpPr>
        <p:spPr>
          <a:xfrm>
            <a:off x="4686300" y="2202061"/>
            <a:ext cx="6671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4F12"/>
                </a:solidFill>
                <a:latin typeface="JetBrains Mono" pitchFamily="49" charset="0"/>
                <a:ea typeface="JetBrains Mono" pitchFamily="49" charset="-122"/>
                <a:cs typeface="JetBrains Mono" pitchFamily="49" charset="-120"/>
              </a:rPr>
              <a:t>AWS · ap-south-1 (Mumbai)</a:t>
            </a:r>
            <a:endParaRPr lang="en-US" sz="1200" dirty="0"/>
          </a:p>
        </p:txBody>
      </p:sp>
      <p:sp>
        <p:nvSpPr>
          <p:cNvPr id="12" name="Shape 10"/>
          <p:cNvSpPr/>
          <p:nvPr/>
        </p:nvSpPr>
        <p:spPr>
          <a:xfrm>
            <a:off x="4692650" y="2548731"/>
            <a:ext cx="6464300" cy="2847082"/>
          </a:xfrm>
          <a:prstGeom prst="roundRect">
            <a:avLst>
              <a:gd name="adj" fmla="val 3346"/>
            </a:avLst>
          </a:prstGeom>
          <a:noFill/>
          <a:ln w="12700">
            <a:solidFill>
              <a:srgbClr val="5B4BD6"/>
            </a:solidFill>
            <a:prstDash val="dash"/>
          </a:ln>
        </p:spPr>
      </p:sp>
      <p:sp>
        <p:nvSpPr>
          <p:cNvPr id="13" name="Text 11"/>
          <p:cNvSpPr/>
          <p:nvPr/>
        </p:nvSpPr>
        <p:spPr>
          <a:xfrm>
            <a:off x="4876800" y="2783681"/>
            <a:ext cx="4733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VPC 10.0.0.0/16</a:t>
            </a:r>
            <a:endParaRPr lang="en-US" sz="1200" dirty="0"/>
          </a:p>
        </p:txBody>
      </p:sp>
      <p:sp>
        <p:nvSpPr>
          <p:cNvPr id="14" name="Text 12"/>
          <p:cNvSpPr/>
          <p:nvPr/>
        </p:nvSpPr>
        <p:spPr>
          <a:xfrm>
            <a:off x="9574411" y="2732881"/>
            <a:ext cx="1398389" cy="314920"/>
          </a:xfrm>
          <a:prstGeom prst="roundRect">
            <a:avLst>
              <a:gd name="adj" fmla="val 16131"/>
            </a:avLst>
          </a:prstGeom>
          <a:solidFill>
            <a:srgbClr val="ECEAE2"/>
          </a:solidFill>
          <a:ln/>
        </p:spPr>
        <p:txBody>
          <a:bodyPr wrap="none" lIns="0" tIns="0" rIns="0" bIns="0" rtlCol="0" anchor="ctr">
            <a:normAutofit/>
          </a:bodyPr>
          <a:lstStyle/>
          <a:p>
            <a:pPr algn="ctr"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Internet Gateway</a:t>
            </a:r>
            <a:endParaRPr lang="en-US" sz="1200" dirty="0"/>
          </a:p>
        </p:txBody>
      </p:sp>
      <p:sp>
        <p:nvSpPr>
          <p:cNvPr id="15" name="Shape 13"/>
          <p:cNvSpPr/>
          <p:nvPr/>
        </p:nvSpPr>
        <p:spPr>
          <a:xfrm>
            <a:off x="4876800" y="3174802"/>
            <a:ext cx="6096000" cy="800001"/>
          </a:xfrm>
          <a:prstGeom prst="roundRect">
            <a:avLst>
              <a:gd name="adj" fmla="val 9525"/>
            </a:avLst>
          </a:prstGeom>
          <a:solidFill>
            <a:srgbClr val="141A2E"/>
          </a:solidFill>
          <a:ln/>
        </p:spPr>
      </p:sp>
      <p:sp>
        <p:nvSpPr>
          <p:cNvPr id="16" name="Text 14"/>
          <p:cNvSpPr/>
          <p:nvPr/>
        </p:nvSpPr>
        <p:spPr>
          <a:xfrm>
            <a:off x="5054600" y="3327202"/>
            <a:ext cx="59126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EKS control plane · bookshelf-eks</a:t>
            </a:r>
            <a:endParaRPr lang="en-US" sz="1600" dirty="0"/>
          </a:p>
        </p:txBody>
      </p:sp>
      <p:sp>
        <p:nvSpPr>
          <p:cNvPr id="17" name="Text 15"/>
          <p:cNvSpPr/>
          <p:nvPr/>
        </p:nvSpPr>
        <p:spPr>
          <a:xfrm>
            <a:off x="5054600" y="3609082"/>
            <a:ext cx="59126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IBM Plex Sans" pitchFamily="34" charset="0"/>
                <a:ea typeface="IBM Plex Sans" pitchFamily="34" charset="-122"/>
                <a:cs typeface="IBM Plex Sans" pitchFamily="34" charset="-120"/>
              </a:rPr>
              <a:t>Kubernetes 1.30, IAM roles for cluster and nodes</a:t>
            </a:r>
            <a:endParaRPr lang="en-US" sz="1200" dirty="0"/>
          </a:p>
        </p:txBody>
      </p:sp>
      <p:sp>
        <p:nvSpPr>
          <p:cNvPr id="18" name="Shape 16"/>
          <p:cNvSpPr/>
          <p:nvPr/>
        </p:nvSpPr>
        <p:spPr>
          <a:xfrm>
            <a:off x="4876800" y="4101802"/>
            <a:ext cx="2984500" cy="769541"/>
          </a:xfrm>
          <a:prstGeom prst="roundRect">
            <a:avLst>
              <a:gd name="adj" fmla="val 9902"/>
            </a:avLst>
          </a:prstGeom>
          <a:solidFill>
            <a:srgbClr val="EEEBFD"/>
          </a:solidFill>
          <a:ln/>
        </p:spPr>
      </p:sp>
      <p:sp>
        <p:nvSpPr>
          <p:cNvPr id="19" name="Text 17"/>
          <p:cNvSpPr/>
          <p:nvPr/>
        </p:nvSpPr>
        <p:spPr>
          <a:xfrm>
            <a:off x="5029200" y="4254202"/>
            <a:ext cx="2760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2FB0"/>
                </a:solidFill>
                <a:latin typeface="JetBrains Mono" pitchFamily="49" charset="0"/>
                <a:ea typeface="JetBrains Mono" pitchFamily="49" charset="-122"/>
                <a:cs typeface="JetBrains Mono" pitchFamily="49" charset="-120"/>
              </a:rPr>
              <a:t>ap-south-1a</a:t>
            </a:r>
            <a:endParaRPr lang="en-US" sz="1200" dirty="0"/>
          </a:p>
        </p:txBody>
      </p:sp>
      <p:sp>
        <p:nvSpPr>
          <p:cNvPr id="20" name="Text 18"/>
          <p:cNvSpPr/>
          <p:nvPr/>
        </p:nvSpPr>
        <p:spPr>
          <a:xfrm>
            <a:off x="5029200" y="4505623"/>
            <a:ext cx="2760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public subnet 10.0.1.0/24</a:t>
            </a:r>
            <a:endParaRPr lang="en-US" sz="1200" dirty="0"/>
          </a:p>
        </p:txBody>
      </p:sp>
      <p:sp>
        <p:nvSpPr>
          <p:cNvPr id="21" name="Shape 19"/>
          <p:cNvSpPr/>
          <p:nvPr/>
        </p:nvSpPr>
        <p:spPr>
          <a:xfrm>
            <a:off x="7988300" y="4101802"/>
            <a:ext cx="2984500" cy="769541"/>
          </a:xfrm>
          <a:prstGeom prst="roundRect">
            <a:avLst>
              <a:gd name="adj" fmla="val 9902"/>
            </a:avLst>
          </a:prstGeom>
          <a:solidFill>
            <a:srgbClr val="EEEBFD"/>
          </a:solidFill>
          <a:ln/>
        </p:spPr>
      </p:sp>
      <p:sp>
        <p:nvSpPr>
          <p:cNvPr id="22" name="Text 20"/>
          <p:cNvSpPr/>
          <p:nvPr/>
        </p:nvSpPr>
        <p:spPr>
          <a:xfrm>
            <a:off x="8140700" y="4254202"/>
            <a:ext cx="2760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2FB0"/>
                </a:solidFill>
                <a:latin typeface="JetBrains Mono" pitchFamily="49" charset="0"/>
                <a:ea typeface="JetBrains Mono" pitchFamily="49" charset="-122"/>
                <a:cs typeface="JetBrains Mono" pitchFamily="49" charset="-120"/>
              </a:rPr>
              <a:t>ap-south-1b</a:t>
            </a:r>
            <a:endParaRPr lang="en-US" sz="1200" dirty="0"/>
          </a:p>
        </p:txBody>
      </p:sp>
      <p:sp>
        <p:nvSpPr>
          <p:cNvPr id="23" name="Text 21"/>
          <p:cNvSpPr/>
          <p:nvPr/>
        </p:nvSpPr>
        <p:spPr>
          <a:xfrm>
            <a:off x="8140700" y="4505623"/>
            <a:ext cx="2760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public subnet 10.0.2.0/24</a:t>
            </a:r>
            <a:endParaRPr lang="en-US" sz="1200" dirty="0"/>
          </a:p>
        </p:txBody>
      </p:sp>
      <p:sp>
        <p:nvSpPr>
          <p:cNvPr id="24" name="Text 22"/>
          <p:cNvSpPr/>
          <p:nvPr/>
        </p:nvSpPr>
        <p:spPr>
          <a:xfrm>
            <a:off x="4876800" y="4998343"/>
            <a:ext cx="6278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Managed node group on Amazon Linux 2023 (t3.micro) spans both zones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09 · KUBERNETES + HELM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One chart, whole app</a:t>
            </a:r>
            <a:endParaRPr lang="en-US" sz="3600" dirty="0"/>
          </a:p>
        </p:txBody>
      </p:sp>
      <p:sp>
        <p:nvSpPr>
          <p:cNvPr id="4" name="Shape 2"/>
          <p:cNvSpPr/>
          <p:nvPr/>
        </p:nvSpPr>
        <p:spPr>
          <a:xfrm>
            <a:off x="812800" y="1992511"/>
            <a:ext cx="10566400" cy="0"/>
          </a:xfrm>
          <a:prstGeom prst="line">
            <a:avLst/>
          </a:prstGeom>
          <a:noFill/>
          <a:ln w="12700">
            <a:solidFill>
              <a:srgbClr val="141413">
                <a:alpha val="22000"/>
              </a:srgbClr>
            </a:solidFill>
            <a:prstDash val="solid"/>
          </a:ln>
        </p:spPr>
      </p:sp>
      <p:sp>
        <p:nvSpPr>
          <p:cNvPr id="5" name="Shape 3"/>
          <p:cNvSpPr/>
          <p:nvPr/>
        </p:nvSpPr>
        <p:spPr>
          <a:xfrm>
            <a:off x="819150" y="1986161"/>
            <a:ext cx="0" cy="2780506"/>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100461"/>
          <a:ext cx="10248900" cy="2564606"/>
        </p:xfrm>
        <a:graphic>
          <a:graphicData uri="http://schemas.openxmlformats.org/drawingml/2006/table">
            <a:tbl>
              <a:tblPr/>
              <a:tblGrid>
                <a:gridCol w="2254758"/>
                <a:gridCol w="2869692"/>
                <a:gridCol w="1434846"/>
                <a:gridCol w="3689604"/>
              </a:tblGrid>
              <a:tr h="385961">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Kubernetes objects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Detail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r>
              <a:tr h="634802">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Ingress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Ingress (NGINX)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bookshelf.local: / to frontend, /api to backend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Frontend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Deployment + 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3000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React build on Nginx, 2 replicas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5961">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Deployment + 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8000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FastAPI, 2 replicas, health probes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Deployment + 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5432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PostgreSQL 16 on emptyDir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5961">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Config</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ConfigMap + Secret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1A2E"/>
                          </a:solidFill>
                          <a:latin typeface="IBM Plex Sans" pitchFamily="34" charset="0"/>
                          <a:ea typeface="IBM Plex Sans" pitchFamily="34" charset="-122"/>
                          <a:cs typeface="IBM Plex Sans" pitchFamily="34" charset="-120"/>
                        </a:rPr>
                        <a:t>DATABASE_URL and credentials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5122267"/>
            <a:ext cx="10566400" cy="604441"/>
          </a:xfrm>
          <a:prstGeom prst="roundRect">
            <a:avLst>
              <a:gd name="adj" fmla="val 16809"/>
            </a:avLst>
          </a:prstGeom>
          <a:solidFill>
            <a:srgbClr val="141A2E"/>
          </a:solidFill>
          <a:ln/>
        </p:spPr>
        <p:txBody>
          <a:bodyPr wrap="square" lIns="224242" tIns="135342" rIns="224242" bIns="135342" rtlCol="0" anchor="ctr">
            <a:normAutofit/>
          </a:bodyPr>
          <a:lstStyle/>
          <a:p>
            <a:pPr algn="l" indent="0" marL="0">
              <a:lnSpc>
                <a:spcPts val="1960"/>
              </a:lnSpc>
              <a:buNone/>
            </a:pPr>
            <a:r>
              <a:rPr lang="en-US" sz="1400" dirty="0">
                <a:solidFill>
                  <a:srgbClr val="F5F4EF"/>
                </a:solidFill>
                <a:latin typeface="JetBrains Mono" pitchFamily="49" charset="0"/>
                <a:ea typeface="JetBrains Mono" pitchFamily="49" charset="-122"/>
                <a:cs typeface="JetBrains Mono" pitchFamily="49" charset="-120"/>
              </a:rPr>
              <a:t>$ helm upgrade --install bookshelf ./helm/bookshelf -n bookshelf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CFA"/>
                </a:solidFill>
                <a:latin typeface="JetBrains Mono" pitchFamily="49" charset="0"/>
                <a:ea typeface="JetBrains Mono" pitchFamily="49" charset="-122"/>
                <a:cs typeface="JetBrains Mono" pitchFamily="49" charset="-120"/>
              </a:rPr>
              <a:t>10 · GITOPS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4EF"/>
                </a:solidFill>
                <a:latin typeface="Space Grotesk" pitchFamily="34" charset="0"/>
                <a:ea typeface="Space Grotesk" pitchFamily="34" charset="-122"/>
                <a:cs typeface="Space Grotesk" pitchFamily="34" charset="-120"/>
              </a:rPr>
              <a:t>Git is the source of truth</a:t>
            </a:r>
            <a:endParaRPr lang="en-US" sz="3600" dirty="0"/>
          </a:p>
        </p:txBody>
      </p:sp>
      <p:sp>
        <p:nvSpPr>
          <p:cNvPr id="4" name="Text 2"/>
          <p:cNvSpPr/>
          <p:nvPr/>
        </p:nvSpPr>
        <p:spPr>
          <a:xfrm>
            <a:off x="812800" y="1986161"/>
            <a:ext cx="32702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99CFA"/>
                </a:solidFill>
                <a:latin typeface="Space Grotesk" pitchFamily="34" charset="0"/>
                <a:ea typeface="Space Grotesk" pitchFamily="34" charset="-122"/>
                <a:cs typeface="Space Grotesk" pitchFamily="34" charset="-120"/>
              </a:rPr>
              <a:t>Pull, not push</a:t>
            </a:r>
            <a:endParaRPr lang="en-US" sz="2200" dirty="0"/>
          </a:p>
        </p:txBody>
      </p:sp>
      <p:sp>
        <p:nvSpPr>
          <p:cNvPr id="5" name="Text 3"/>
          <p:cNvSpPr/>
          <p:nvPr/>
        </p:nvSpPr>
        <p:spPr>
          <a:xfrm>
            <a:off x="812800" y="2428081"/>
            <a:ext cx="32702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Argo CD watches the Helm chart in the repo and applies changes itself</a:t>
            </a:r>
            <a:endParaRPr lang="en-US" sz="1400" dirty="0"/>
          </a:p>
        </p:txBody>
      </p:sp>
      <p:sp>
        <p:nvSpPr>
          <p:cNvPr id="6" name="Text 4"/>
          <p:cNvSpPr/>
          <p:nvPr/>
        </p:nvSpPr>
        <p:spPr>
          <a:xfrm>
            <a:off x="812800" y="3128963"/>
            <a:ext cx="32702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99CFA"/>
                </a:solidFill>
                <a:latin typeface="Space Grotesk" pitchFamily="34" charset="0"/>
                <a:ea typeface="Space Grotesk" pitchFamily="34" charset="-122"/>
                <a:cs typeface="Space Grotesk" pitchFamily="34" charset="-120"/>
              </a:rPr>
              <a:t>Self-healing</a:t>
            </a:r>
            <a:endParaRPr lang="en-US" sz="2200" dirty="0"/>
          </a:p>
        </p:txBody>
      </p:sp>
      <p:sp>
        <p:nvSpPr>
          <p:cNvPr id="7" name="Text 5"/>
          <p:cNvSpPr/>
          <p:nvPr/>
        </p:nvSpPr>
        <p:spPr>
          <a:xfrm>
            <a:off x="812800" y="3570883"/>
            <a:ext cx="32702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auto-sync with prune and selfHeal undoes manual drift</a:t>
            </a:r>
            <a:endParaRPr lang="en-US" sz="1400" dirty="0"/>
          </a:p>
        </p:txBody>
      </p:sp>
      <p:sp>
        <p:nvSpPr>
          <p:cNvPr id="8" name="Text 6"/>
          <p:cNvSpPr/>
          <p:nvPr/>
        </p:nvSpPr>
        <p:spPr>
          <a:xfrm>
            <a:off x="812800" y="4271764"/>
            <a:ext cx="32702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99CFA"/>
                </a:solidFill>
                <a:latin typeface="Space Grotesk" pitchFamily="34" charset="0"/>
                <a:ea typeface="Space Grotesk" pitchFamily="34" charset="-122"/>
                <a:cs typeface="Space Grotesk" pitchFamily="34" charset="-120"/>
              </a:rPr>
              <a:t>Synced + Healthy</a:t>
            </a:r>
            <a:endParaRPr lang="en-US" sz="2200" dirty="0"/>
          </a:p>
        </p:txBody>
      </p:sp>
      <p:sp>
        <p:nvSpPr>
          <p:cNvPr id="9" name="Text 7"/>
          <p:cNvSpPr/>
          <p:nvPr/>
        </p:nvSpPr>
        <p:spPr>
          <a:xfrm>
            <a:off x="812800" y="4713684"/>
            <a:ext cx="3479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all resources green at commit 0ad6d1a</a:t>
            </a:r>
            <a:endParaRPr lang="en-US" sz="1400" dirty="0"/>
          </a:p>
        </p:txBody>
      </p:sp>
      <p:pic>
        <p:nvPicPr>
          <p:cNvPr id="10" name="Image 0" descr="Argo CD application tree for bookshelf: services, deployments, replica sets, pods and ingress all healthy and synced">    </p:cNvPr>
          <p:cNvPicPr>
            <a:picLocks noChangeAspect="1"/>
          </p:cNvPicPr>
          <p:nvPr/>
        </p:nvPicPr>
        <p:blipFill>
          <a:blip r:embed="rId1"/>
          <a:srcRect l="14302" r="14302" t="0" b="0"/>
          <a:stretch/>
        </p:blipFill>
        <p:spPr>
          <a:xfrm>
            <a:off x="4298950" y="1992511"/>
            <a:ext cx="7073900" cy="3797300"/>
          </a:xfrm>
          <a:prstGeom prst="roundRect">
            <a:avLst>
              <a:gd name="adj" fmla="val 2508"/>
            </a:avLst>
          </a:prstGeom>
        </p:spPr>
      </p:pic>
      <p:sp>
        <p:nvSpPr>
          <p:cNvPr id="11" name="Shape 8"/>
          <p:cNvSpPr/>
          <p:nvPr/>
        </p:nvSpPr>
        <p:spPr>
          <a:xfrm>
            <a:off x="4295775" y="1989336"/>
            <a:ext cx="7080250" cy="3803650"/>
          </a:xfrm>
          <a:prstGeom prst="roundRect">
            <a:avLst>
              <a:gd name="adj" fmla="val 2588"/>
            </a:avLst>
          </a:prstGeom>
          <a:noFill/>
          <a:ln w="6350">
            <a:solidFill>
              <a:srgbClr val="343D63"/>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11 · OBSERVABILITY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Seeing inside the cluster</a:t>
            </a:r>
            <a:endParaRPr lang="en-US" sz="3600" dirty="0"/>
          </a:p>
        </p:txBody>
      </p:sp>
      <p:sp>
        <p:nvSpPr>
          <p:cNvPr id="4" name="Shape 2"/>
          <p:cNvSpPr/>
          <p:nvPr/>
        </p:nvSpPr>
        <p:spPr>
          <a:xfrm>
            <a:off x="812800" y="2928938"/>
            <a:ext cx="3860800" cy="0"/>
          </a:xfrm>
          <a:prstGeom prst="line">
            <a:avLst/>
          </a:prstGeom>
          <a:noFill/>
          <a:ln w="6350">
            <a:solidFill>
              <a:srgbClr val="D9D7CE"/>
            </a:solidFill>
            <a:prstDash val="solid"/>
          </a:ln>
        </p:spPr>
      </p:sp>
      <p:sp>
        <p:nvSpPr>
          <p:cNvPr id="5" name="Text 3"/>
          <p:cNvSpPr/>
          <p:nvPr/>
        </p:nvSpPr>
        <p:spPr>
          <a:xfrm>
            <a:off x="812800" y="1986161"/>
            <a:ext cx="3976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EXPOSE</a:t>
            </a:r>
            <a:endParaRPr lang="en-US" sz="1200" dirty="0"/>
          </a:p>
        </p:txBody>
      </p:sp>
      <p:sp>
        <p:nvSpPr>
          <p:cNvPr id="6" name="Text 4"/>
          <p:cNvSpPr/>
          <p:nvPr/>
        </p:nvSpPr>
        <p:spPr>
          <a:xfrm>
            <a:off x="812800" y="2250281"/>
            <a:ext cx="397662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FastAPI publishes </a:t>
            </a:r>
            <a:r>
              <a:rPr lang="en-US" sz="1400" b="1" dirty="0">
                <a:solidFill>
                  <a:srgbClr val="3A4058"/>
                </a:solidFill>
                <a:latin typeface="IBM Plex Sans" pitchFamily="34" charset="0"/>
                <a:ea typeface="IBM Plex Sans" pitchFamily="34" charset="-122"/>
                <a:cs typeface="IBM Plex Sans" pitchFamily="34" charset="-120"/>
              </a:rPr>
              <a:t>http_requests_total</a:t>
            </a:r>
            <a:r>
              <a:rPr lang="en-US" sz="1400" dirty="0">
                <a:solidFill>
                  <a:srgbClr val="3A4058"/>
                </a:solidFill>
                <a:latin typeface="IBM Plex Sans" pitchFamily="34" charset="0"/>
                <a:ea typeface="IBM Plex Sans" pitchFamily="34" charset="-122"/>
                <a:cs typeface="IBM Plex Sans" pitchFamily="34" charset="-120"/>
              </a:rPr>
              <a:t> at /metrics</a:t>
            </a:r>
            <a:endParaRPr lang="en-US" sz="1400" dirty="0"/>
          </a:p>
        </p:txBody>
      </p:sp>
      <p:sp>
        <p:nvSpPr>
          <p:cNvPr id="7" name="Shape 5"/>
          <p:cNvSpPr/>
          <p:nvPr/>
        </p:nvSpPr>
        <p:spPr>
          <a:xfrm>
            <a:off x="812800" y="3803848"/>
            <a:ext cx="3860800" cy="0"/>
          </a:xfrm>
          <a:prstGeom prst="line">
            <a:avLst/>
          </a:prstGeom>
          <a:noFill/>
          <a:ln w="6350">
            <a:solidFill>
              <a:srgbClr val="D9D7CE"/>
            </a:solidFill>
            <a:prstDash val="solid"/>
          </a:ln>
        </p:spPr>
      </p:sp>
      <p:sp>
        <p:nvSpPr>
          <p:cNvPr id="8" name="Text 6"/>
          <p:cNvSpPr/>
          <p:nvPr/>
        </p:nvSpPr>
        <p:spPr>
          <a:xfrm>
            <a:off x="812800" y="3109913"/>
            <a:ext cx="3976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SCRAPE</a:t>
            </a:r>
            <a:endParaRPr lang="en-US" sz="1200" dirty="0"/>
          </a:p>
        </p:txBody>
      </p:sp>
      <p:sp>
        <p:nvSpPr>
          <p:cNvPr id="9" name="Text 7"/>
          <p:cNvSpPr/>
          <p:nvPr/>
        </p:nvSpPr>
        <p:spPr>
          <a:xfrm>
            <a:off x="812800" y="3374033"/>
            <a:ext cx="397662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Prometheus (Helm) scrapes it; 12 targets UP</a:t>
            </a:r>
            <a:endParaRPr lang="en-US" sz="1400" dirty="0"/>
          </a:p>
        </p:txBody>
      </p:sp>
      <p:sp>
        <p:nvSpPr>
          <p:cNvPr id="10" name="Text 8"/>
          <p:cNvSpPr/>
          <p:nvPr/>
        </p:nvSpPr>
        <p:spPr>
          <a:xfrm>
            <a:off x="812800" y="3984823"/>
            <a:ext cx="3976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BD6"/>
                </a:solidFill>
                <a:latin typeface="JetBrains Mono" pitchFamily="49" charset="0"/>
                <a:ea typeface="JetBrains Mono" pitchFamily="49" charset="-122"/>
                <a:cs typeface="JetBrains Mono" pitchFamily="49" charset="-120"/>
              </a:rPr>
              <a:t>VISUALISE</a:t>
            </a:r>
            <a:endParaRPr lang="en-US" sz="1200" dirty="0"/>
          </a:p>
        </p:txBody>
      </p:sp>
      <p:sp>
        <p:nvSpPr>
          <p:cNvPr id="11" name="Text 9"/>
          <p:cNvSpPr/>
          <p:nvPr/>
        </p:nvSpPr>
        <p:spPr>
          <a:xfrm>
            <a:off x="812800" y="4248944"/>
            <a:ext cx="397662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058"/>
                </a:solidFill>
                <a:latin typeface="IBM Plex Sans" pitchFamily="34" charset="0"/>
                <a:ea typeface="IBM Plex Sans" pitchFamily="34" charset="-122"/>
                <a:cs typeface="IBM Plex Sans" pitchFamily="34" charset="-120"/>
              </a:rPr>
              <a:t>Grafana (Helm) charts request rates per endpoint</a:t>
            </a:r>
            <a:endParaRPr lang="en-US" sz="1400" dirty="0"/>
          </a:p>
        </p:txBody>
      </p:sp>
      <p:pic>
        <p:nvPicPr>
          <p:cNvPr id="12" name="Image 0" descr="Grafana time-series panel of http_requests_total for the /health and /metrics endpoints of bookshelf-backend">    </p:cNvPr>
          <p:cNvPicPr>
            <a:picLocks noChangeAspect="1"/>
          </p:cNvPicPr>
          <p:nvPr/>
        </p:nvPicPr>
        <p:blipFill>
          <a:blip r:embed="rId1"/>
          <a:srcRect l="0" r="0" t="89" b="89"/>
          <a:stretch/>
        </p:blipFill>
        <p:spPr>
          <a:xfrm>
            <a:off x="5035550" y="1992511"/>
            <a:ext cx="6337300" cy="3587750"/>
          </a:xfrm>
          <a:prstGeom prst="roundRect">
            <a:avLst>
              <a:gd name="adj" fmla="val 2655"/>
            </a:avLst>
          </a:prstGeom>
        </p:spPr>
      </p:pic>
      <p:sp>
        <p:nvSpPr>
          <p:cNvPr id="13" name="Shape 10"/>
          <p:cNvSpPr/>
          <p:nvPr/>
        </p:nvSpPr>
        <p:spPr>
          <a:xfrm>
            <a:off x="5032375" y="1989336"/>
            <a:ext cx="6343650" cy="3594100"/>
          </a:xfrm>
          <a:prstGeom prst="roundRect">
            <a:avLst>
              <a:gd name="adj" fmla="val 2739"/>
            </a:avLst>
          </a:prstGeom>
          <a:noFill/>
          <a:ln w="6350">
            <a:solidFill>
              <a:srgbClr val="D9D7CE"/>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BD6"/>
                </a:solidFill>
                <a:latin typeface="JetBrains Mono" pitchFamily="49" charset="0"/>
                <a:ea typeface="JetBrains Mono" pitchFamily="49" charset="-122"/>
                <a:cs typeface="JetBrains Mono" pitchFamily="49" charset="-120"/>
              </a:rPr>
              <a:t>12 · TROUBLESHOOTING LAB</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A2E"/>
                </a:solidFill>
                <a:latin typeface="Space Grotesk" pitchFamily="34" charset="0"/>
                <a:ea typeface="Space Grotesk" pitchFamily="34" charset="-122"/>
                <a:cs typeface="Space Grotesk" pitchFamily="34" charset="-120"/>
              </a:rPr>
              <a:t>Four failures, four fixes</a:t>
            </a:r>
            <a:endParaRPr lang="en-US" sz="3600" dirty="0"/>
          </a:p>
        </p:txBody>
      </p:sp>
      <p:sp>
        <p:nvSpPr>
          <p:cNvPr id="4" name="Shape 2"/>
          <p:cNvSpPr/>
          <p:nvPr/>
        </p:nvSpPr>
        <p:spPr>
          <a:xfrm>
            <a:off x="812800" y="1992511"/>
            <a:ext cx="10566400" cy="0"/>
          </a:xfrm>
          <a:prstGeom prst="line">
            <a:avLst/>
          </a:prstGeom>
          <a:noFill/>
          <a:ln w="12700">
            <a:solidFill>
              <a:srgbClr val="141413">
                <a:alpha val="22000"/>
              </a:srgbClr>
            </a:solidFill>
            <a:prstDash val="solid"/>
          </a:ln>
        </p:spPr>
      </p:sp>
      <p:sp>
        <p:nvSpPr>
          <p:cNvPr id="5" name="Shape 3"/>
          <p:cNvSpPr/>
          <p:nvPr/>
        </p:nvSpPr>
        <p:spPr>
          <a:xfrm>
            <a:off x="819150" y="1986161"/>
            <a:ext cx="0" cy="2961977"/>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113161"/>
          <a:ext cx="10248900" cy="2720677"/>
        </p:xfrm>
        <a:graphic>
          <a:graphicData uri="http://schemas.openxmlformats.org/drawingml/2006/table">
            <a:tbl>
              <a:tblPr/>
              <a:tblGrid>
                <a:gridCol w="2254758"/>
                <a:gridCol w="2562225"/>
                <a:gridCol w="2664714"/>
                <a:gridCol w="2767203"/>
              </a:tblGrid>
              <a:tr h="359271">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Symptom</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Root 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Diagnose with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8"/>
                      </a:solidFill>
                      <a:prstDash val="solid"/>
                      <a:round/>
                      <a:headEnd type="none" w="med" len="med"/>
                      <a:tailEnd type="none" w="med" len="med"/>
                    </a:lnL>
                    <a:lnR w="12700" cap="flat" cmpd="sng" algn="ctr">
                      <a:solidFill>
                        <a:srgbClr val="141928"/>
                      </a:solidFill>
                      <a:prstDash val="solid"/>
                      <a:round/>
                      <a:headEnd type="none" w="med" len="med"/>
                      <a:tailEnd type="none" w="med" len="med"/>
                    </a:lnR>
                    <a:lnT w="0" cap="flat" cmpd="sng" algn="ctr">
                      <a:noFill/>
                    </a:lnT>
                    <a:lnB w="12700" cap="flat" cmpd="sng" algn="ctr">
                      <a:solidFill>
                        <a:srgbClr val="141928"/>
                      </a:solidFill>
                      <a:prstDash val="solid"/>
                      <a:round/>
                      <a:headEnd type="none" w="med" len="med"/>
                      <a:tailEnd type="none" w="med" len="med"/>
                    </a:lnB>
                    <a:solidFill>
                      <a:srgbClr val="141A2E"/>
                    </a:solidFill>
                  </a:tcPr>
                </a:tc>
              </a:tr>
              <a:tr h="590352">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ImagePullBackOff</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Wrong image path or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kubectl describe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Correct GHCR path and SHA tag in values.yaml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928"/>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CrashLoopBackOff</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Backend starts before the database is ready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kubectl logs --previous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Check DATABASE_URL; rely on readiness probes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590352">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Service has no endpoints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Selector labels don’t match pod labels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kubectl get endpoints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Align app.kubernetes.io/name labels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bookshelf.local won’t load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Host name doesn’t resolve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kubectl get ingress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1A2E"/>
                          </a:solidFill>
                          <a:latin typeface="IBM Plex Sans" pitchFamily="34" charset="0"/>
                          <a:ea typeface="IBM Plex Sans" pitchFamily="34" charset="-122"/>
                          <a:cs typeface="IBM Plex Sans" pitchFamily="34" charset="-120"/>
                        </a:rPr>
                        <a:t>Add 127.0.0.1 bookshelf.local to /etc/hosts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B7C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1424"/>
                </a:solidFill>
                <a:latin typeface="JetBrains Mono" pitchFamily="49" charset="0"/>
                <a:ea typeface="JetBrains Mono" pitchFamily="49" charset="-122"/>
                <a:cs typeface="JetBrains Mono" pitchFamily="49" charset="-120"/>
              </a:rPr>
              <a:t>13 · LIVE DEMO</a:t>
            </a:r>
            <a:endParaRPr lang="en-US" sz="1200" dirty="0"/>
          </a:p>
        </p:txBody>
      </p:sp>
      <p:sp>
        <p:nvSpPr>
          <p:cNvPr id="3" name="Text 1"/>
          <p:cNvSpPr/>
          <p:nvPr>
            <p:ph type="title"/>
          </p:nvPr>
        </p:nvSpPr>
        <p:spPr>
          <a:xfrm>
            <a:off x="812800" y="112772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spc="-100" kern="0" dirty="0">
                <a:solidFill>
                  <a:srgbClr val="0F1424"/>
                </a:solidFill>
                <a:latin typeface="Space Grotesk" pitchFamily="34" charset="0"/>
                <a:ea typeface="Space Grotesk" pitchFamily="34" charset="-122"/>
                <a:cs typeface="Space Grotesk" pitchFamily="34" charset="-120"/>
              </a:rPr>
              <a:t>Commit → pipeline → pods</a:t>
            </a:r>
            <a:endParaRPr lang="en-US" sz="6000" dirty="0"/>
          </a:p>
        </p:txBody>
      </p:sp>
      <p:sp>
        <p:nvSpPr>
          <p:cNvPr id="4" name="Shape 2"/>
          <p:cNvSpPr/>
          <p:nvPr/>
        </p:nvSpPr>
        <p:spPr>
          <a:xfrm>
            <a:off x="812800" y="2296120"/>
            <a:ext cx="2527300" cy="1788021"/>
          </a:xfrm>
          <a:prstGeom prst="roundRect">
            <a:avLst>
              <a:gd name="adj" fmla="val 5682"/>
            </a:avLst>
          </a:prstGeom>
          <a:solidFill>
            <a:srgbClr val="F5F4EF"/>
          </a:solidFill>
          <a:ln/>
        </p:spPr>
      </p:sp>
      <p:sp>
        <p:nvSpPr>
          <p:cNvPr id="5" name="Text 3"/>
          <p:cNvSpPr/>
          <p:nvPr/>
        </p:nvSpPr>
        <p:spPr>
          <a:xfrm>
            <a:off x="1041400" y="2524720"/>
            <a:ext cx="213220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41400" y="3083520"/>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424"/>
                </a:solidFill>
                <a:latin typeface="Space Grotesk" pitchFamily="34" charset="0"/>
                <a:ea typeface="Space Grotesk" pitchFamily="34" charset="-122"/>
                <a:cs typeface="Space Grotesk" pitchFamily="34" charset="-120"/>
              </a:rPr>
              <a:t>Change &amp; push</a:t>
            </a:r>
            <a:endParaRPr lang="en-US" sz="1600" dirty="0"/>
          </a:p>
        </p:txBody>
      </p:sp>
      <p:sp>
        <p:nvSpPr>
          <p:cNvPr id="7" name="Text 5"/>
          <p:cNvSpPr/>
          <p:nvPr/>
        </p:nvSpPr>
        <p:spPr>
          <a:xfrm>
            <a:off x="1041400" y="3428901"/>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Edit the subtitle in App.jsx, commit to main</a:t>
            </a:r>
            <a:endParaRPr lang="en-US" sz="1200" dirty="0"/>
          </a:p>
        </p:txBody>
      </p:sp>
      <p:sp>
        <p:nvSpPr>
          <p:cNvPr id="8" name="Shape 6"/>
          <p:cNvSpPr/>
          <p:nvPr/>
        </p:nvSpPr>
        <p:spPr>
          <a:xfrm>
            <a:off x="3492500" y="2296120"/>
            <a:ext cx="2527300" cy="1788021"/>
          </a:xfrm>
          <a:prstGeom prst="roundRect">
            <a:avLst>
              <a:gd name="adj" fmla="val 5682"/>
            </a:avLst>
          </a:prstGeom>
          <a:solidFill>
            <a:srgbClr val="F5F4EF"/>
          </a:solidFill>
          <a:ln/>
        </p:spPr>
      </p:sp>
      <p:sp>
        <p:nvSpPr>
          <p:cNvPr id="9" name="Text 7"/>
          <p:cNvSpPr/>
          <p:nvPr/>
        </p:nvSpPr>
        <p:spPr>
          <a:xfrm>
            <a:off x="3721100" y="2524720"/>
            <a:ext cx="213220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3721100" y="3083520"/>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424"/>
                </a:solidFill>
                <a:latin typeface="Space Grotesk" pitchFamily="34" charset="0"/>
                <a:ea typeface="Space Grotesk" pitchFamily="34" charset="-122"/>
                <a:cs typeface="Space Grotesk" pitchFamily="34" charset="-120"/>
              </a:rPr>
              <a:t>Watch CI</a:t>
            </a:r>
            <a:endParaRPr lang="en-US" sz="1600" dirty="0"/>
          </a:p>
        </p:txBody>
      </p:sp>
      <p:sp>
        <p:nvSpPr>
          <p:cNvPr id="11" name="Text 9"/>
          <p:cNvSpPr/>
          <p:nvPr/>
        </p:nvSpPr>
        <p:spPr>
          <a:xfrm>
            <a:off x="3721100" y="3428901"/>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Tests, build, push to GHCR, Trivy scan</a:t>
            </a:r>
            <a:endParaRPr lang="en-US" sz="1200" dirty="0"/>
          </a:p>
        </p:txBody>
      </p:sp>
      <p:sp>
        <p:nvSpPr>
          <p:cNvPr id="12" name="Shape 10"/>
          <p:cNvSpPr/>
          <p:nvPr/>
        </p:nvSpPr>
        <p:spPr>
          <a:xfrm>
            <a:off x="6172200" y="2296120"/>
            <a:ext cx="2527300" cy="1788021"/>
          </a:xfrm>
          <a:prstGeom prst="roundRect">
            <a:avLst>
              <a:gd name="adj" fmla="val 5682"/>
            </a:avLst>
          </a:prstGeom>
          <a:solidFill>
            <a:srgbClr val="F5F4EF"/>
          </a:solidFill>
          <a:ln/>
        </p:spPr>
      </p:sp>
      <p:sp>
        <p:nvSpPr>
          <p:cNvPr id="13" name="Text 11"/>
          <p:cNvSpPr/>
          <p:nvPr/>
        </p:nvSpPr>
        <p:spPr>
          <a:xfrm>
            <a:off x="6400800" y="2524720"/>
            <a:ext cx="213220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5B4BD6"/>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6400800" y="3083520"/>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424"/>
                </a:solidFill>
                <a:latin typeface="Space Grotesk" pitchFamily="34" charset="0"/>
                <a:ea typeface="Space Grotesk" pitchFamily="34" charset="-122"/>
                <a:cs typeface="Space Grotesk" pitchFamily="34" charset="-120"/>
              </a:rPr>
              <a:t>Bump the tag</a:t>
            </a:r>
            <a:endParaRPr lang="en-US" sz="1600" dirty="0"/>
          </a:p>
        </p:txBody>
      </p:sp>
      <p:sp>
        <p:nvSpPr>
          <p:cNvPr id="15" name="Text 13"/>
          <p:cNvSpPr/>
          <p:nvPr/>
        </p:nvSpPr>
        <p:spPr>
          <a:xfrm>
            <a:off x="6400800" y="3428901"/>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058"/>
                </a:solidFill>
                <a:latin typeface="IBM Plex Sans" pitchFamily="34" charset="0"/>
                <a:ea typeface="IBM Plex Sans" pitchFamily="34" charset="-122"/>
                <a:cs typeface="IBM Plex Sans" pitchFamily="34" charset="-120"/>
              </a:rPr>
              <a:t>Set the new SHA in values.yaml and push</a:t>
            </a:r>
            <a:endParaRPr lang="en-US" sz="1200" dirty="0"/>
          </a:p>
        </p:txBody>
      </p:sp>
      <p:sp>
        <p:nvSpPr>
          <p:cNvPr id="16" name="Shape 14"/>
          <p:cNvSpPr/>
          <p:nvPr/>
        </p:nvSpPr>
        <p:spPr>
          <a:xfrm>
            <a:off x="8851900" y="2296120"/>
            <a:ext cx="2527300" cy="1788021"/>
          </a:xfrm>
          <a:prstGeom prst="roundRect">
            <a:avLst>
              <a:gd name="adj" fmla="val 5682"/>
            </a:avLst>
          </a:prstGeom>
          <a:solidFill>
            <a:srgbClr val="0F1424"/>
          </a:solidFill>
          <a:ln/>
        </p:spPr>
      </p:sp>
      <p:sp>
        <p:nvSpPr>
          <p:cNvPr id="17" name="Text 15"/>
          <p:cNvSpPr/>
          <p:nvPr/>
        </p:nvSpPr>
        <p:spPr>
          <a:xfrm>
            <a:off x="9080500" y="2524720"/>
            <a:ext cx="213220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99CFA"/>
                </a:solidFill>
                <a:latin typeface="Space Grotesk" pitchFamily="34" charset="0"/>
                <a:ea typeface="Space Grotesk" pitchFamily="34" charset="-122"/>
                <a:cs typeface="Space Grotesk" pitchFamily="34" charset="-120"/>
              </a:rPr>
              <a:t>4</a:t>
            </a:r>
            <a:endParaRPr lang="en-US" sz="3600" dirty="0"/>
          </a:p>
        </p:txBody>
      </p:sp>
      <p:sp>
        <p:nvSpPr>
          <p:cNvPr id="18" name="Text 16"/>
          <p:cNvSpPr/>
          <p:nvPr/>
        </p:nvSpPr>
        <p:spPr>
          <a:xfrm>
            <a:off x="9080500" y="3083520"/>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Argo CD syncs</a:t>
            </a:r>
            <a:endParaRPr lang="en-US" sz="1600" dirty="0"/>
          </a:p>
        </p:txBody>
      </p:sp>
      <p:sp>
        <p:nvSpPr>
          <p:cNvPr id="19" name="Text 17"/>
          <p:cNvSpPr/>
          <p:nvPr/>
        </p:nvSpPr>
        <p:spPr>
          <a:xfrm>
            <a:off x="9080500" y="3428901"/>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IBM Plex Sans" pitchFamily="34" charset="0"/>
                <a:ea typeface="IBM Plex Sans" pitchFamily="34" charset="-122"/>
                <a:cs typeface="IBM Plex Sans" pitchFamily="34" charset="-120"/>
              </a:rPr>
              <a:t>New pods roll out; refresh bookshelf.local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CFA"/>
                </a:solidFill>
                <a:latin typeface="JetBrains Mono" pitchFamily="49" charset="0"/>
                <a:ea typeface="JetBrains Mono" pitchFamily="49" charset="-122"/>
                <a:cs typeface="JetBrains Mono" pitchFamily="49" charset="-120"/>
              </a:rPr>
              <a:t>14 · LESSONS + NEXT STEPS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4EF"/>
                </a:solidFill>
                <a:latin typeface="Space Grotesk" pitchFamily="34" charset="0"/>
                <a:ea typeface="Space Grotesk" pitchFamily="34" charset="-122"/>
                <a:cs typeface="Space Grotesk" pitchFamily="34" charset="-120"/>
              </a:rPr>
              <a:t>What I’d take forward</a:t>
            </a:r>
            <a:endParaRPr lang="en-US" sz="3600" dirty="0"/>
          </a:p>
        </p:txBody>
      </p:sp>
      <p:sp>
        <p:nvSpPr>
          <p:cNvPr id="4" name="Shape 2"/>
          <p:cNvSpPr/>
          <p:nvPr/>
        </p:nvSpPr>
        <p:spPr>
          <a:xfrm>
            <a:off x="812800" y="1986161"/>
            <a:ext cx="3420467" cy="1203821"/>
          </a:xfrm>
          <a:prstGeom prst="roundRect">
            <a:avLst>
              <a:gd name="adj" fmla="val 8440"/>
            </a:avLst>
          </a:prstGeom>
          <a:solidFill>
            <a:srgbClr val="1E2540"/>
          </a:solidFill>
          <a:ln/>
        </p:spPr>
      </p:sp>
      <p:sp>
        <p:nvSpPr>
          <p:cNvPr id="5" name="Text 3"/>
          <p:cNvSpPr/>
          <p:nvPr/>
        </p:nvSpPr>
        <p:spPr>
          <a:xfrm>
            <a:off x="1041400" y="2214761"/>
            <a:ext cx="30521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Versions must line up</a:t>
            </a:r>
            <a:endParaRPr lang="en-US" sz="1600" dirty="0"/>
          </a:p>
        </p:txBody>
      </p:sp>
      <p:sp>
        <p:nvSpPr>
          <p:cNvPr id="6" name="Text 4"/>
          <p:cNvSpPr/>
          <p:nvPr/>
        </p:nvSpPr>
        <p:spPr>
          <a:xfrm>
            <a:off x="1041400" y="2534741"/>
            <a:ext cx="30521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IBM Plex Sans" pitchFamily="34" charset="0"/>
                <a:ea typeface="IBM Plex Sans" pitchFamily="34" charset="-122"/>
                <a:cs typeface="IBM Plex Sans" pitchFamily="34" charset="-120"/>
              </a:rPr>
              <a:t>EKS 1.30 needed the AL2023 AMI type before nodes would join</a:t>
            </a:r>
            <a:endParaRPr lang="en-US" sz="1200" dirty="0"/>
          </a:p>
        </p:txBody>
      </p:sp>
      <p:sp>
        <p:nvSpPr>
          <p:cNvPr id="7" name="Shape 5"/>
          <p:cNvSpPr/>
          <p:nvPr/>
        </p:nvSpPr>
        <p:spPr>
          <a:xfrm>
            <a:off x="4385667" y="1986161"/>
            <a:ext cx="3420566" cy="1203821"/>
          </a:xfrm>
          <a:prstGeom prst="roundRect">
            <a:avLst>
              <a:gd name="adj" fmla="val 8440"/>
            </a:avLst>
          </a:prstGeom>
          <a:solidFill>
            <a:srgbClr val="1E2540"/>
          </a:solidFill>
          <a:ln/>
        </p:spPr>
      </p:sp>
      <p:sp>
        <p:nvSpPr>
          <p:cNvPr id="8" name="Text 6"/>
          <p:cNvSpPr/>
          <p:nvPr/>
        </p:nvSpPr>
        <p:spPr>
          <a:xfrm>
            <a:off x="4614267" y="2214761"/>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Cloud costs real money</a:t>
            </a:r>
            <a:endParaRPr lang="en-US" sz="1600" dirty="0"/>
          </a:p>
        </p:txBody>
      </p:sp>
      <p:sp>
        <p:nvSpPr>
          <p:cNvPr id="9" name="Text 7"/>
          <p:cNvSpPr/>
          <p:nvPr/>
        </p:nvSpPr>
        <p:spPr>
          <a:xfrm>
            <a:off x="4614267" y="2534741"/>
            <a:ext cx="3052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IBM Plex Sans" pitchFamily="34" charset="0"/>
                <a:ea typeface="IBM Plex Sans" pitchFamily="34" charset="-122"/>
                <a:cs typeface="IBM Plex Sans" pitchFamily="34" charset="-120"/>
              </a:rPr>
              <a:t>Small nodes and terraform destroy after every session</a:t>
            </a:r>
            <a:endParaRPr lang="en-US" sz="1200" dirty="0"/>
          </a:p>
        </p:txBody>
      </p:sp>
      <p:sp>
        <p:nvSpPr>
          <p:cNvPr id="10" name="Shape 8"/>
          <p:cNvSpPr/>
          <p:nvPr/>
        </p:nvSpPr>
        <p:spPr>
          <a:xfrm>
            <a:off x="7958634" y="1986161"/>
            <a:ext cx="3420566" cy="1203821"/>
          </a:xfrm>
          <a:prstGeom prst="roundRect">
            <a:avLst>
              <a:gd name="adj" fmla="val 8440"/>
            </a:avLst>
          </a:prstGeom>
          <a:solidFill>
            <a:srgbClr val="1E2540"/>
          </a:solidFill>
          <a:ln/>
        </p:spPr>
      </p:sp>
      <p:sp>
        <p:nvSpPr>
          <p:cNvPr id="11" name="Text 9"/>
          <p:cNvSpPr/>
          <p:nvPr/>
        </p:nvSpPr>
        <p:spPr>
          <a:xfrm>
            <a:off x="8187234" y="2214761"/>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Space Grotesk" pitchFamily="34" charset="0"/>
                <a:ea typeface="Space Grotesk" pitchFamily="34" charset="-122"/>
                <a:cs typeface="Space Grotesk" pitchFamily="34" charset="-120"/>
              </a:rPr>
              <a:t>Fix it in Git</a:t>
            </a:r>
            <a:endParaRPr lang="en-US" sz="1600" dirty="0"/>
          </a:p>
        </p:txBody>
      </p:sp>
      <p:sp>
        <p:nvSpPr>
          <p:cNvPr id="12" name="Text 10"/>
          <p:cNvSpPr/>
          <p:nvPr/>
        </p:nvSpPr>
        <p:spPr>
          <a:xfrm>
            <a:off x="8187234" y="2534741"/>
            <a:ext cx="3052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IBM Plex Sans" pitchFamily="34" charset="0"/>
                <a:ea typeface="IBM Plex Sans" pitchFamily="34" charset="-122"/>
                <a:cs typeface="IBM Plex Sans" pitchFamily="34" charset="-120"/>
              </a:rPr>
              <a:t>With Argo CD, a kubectl hotfix gets reverted; commits stick</a:t>
            </a:r>
            <a:endParaRPr lang="en-US" sz="1200" dirty="0"/>
          </a:p>
        </p:txBody>
      </p:sp>
      <p:sp>
        <p:nvSpPr>
          <p:cNvPr id="13" name="Text 11"/>
          <p:cNvSpPr/>
          <p:nvPr/>
        </p:nvSpPr>
        <p:spPr>
          <a:xfrm>
            <a:off x="812800" y="35455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NEXT</a:t>
            </a:r>
            <a:endParaRPr lang="en-US" sz="1200" dirty="0"/>
          </a:p>
        </p:txBody>
      </p:sp>
      <p:sp>
        <p:nvSpPr>
          <p:cNvPr id="14" name="Text 12"/>
          <p:cNvSpPr/>
          <p:nvPr/>
        </p:nvSpPr>
        <p:spPr>
          <a:xfrm>
            <a:off x="812800" y="3860502"/>
            <a:ext cx="11379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IBM Plex Sans" pitchFamily="34" charset="0"/>
                <a:ea typeface="IBM Plex Sans" pitchFamily="34" charset="-122"/>
                <a:cs typeface="IBM Plex Sans" pitchFamily="34" charset="-120"/>
              </a:rPr>
              <a:t>Scan images before pushing · auto-bump the image tag from CI · PersistentVolume for Postgres · move secrets to a secret manager</a:t>
            </a:r>
            <a:endParaRPr lang="en-US" sz="1400" dirty="0"/>
          </a:p>
        </p:txBody>
      </p:sp>
      <p:sp>
        <p:nvSpPr>
          <p:cNvPr id="15" name="Text 13"/>
          <p:cNvSpPr/>
          <p:nvPr/>
        </p:nvSpPr>
        <p:spPr>
          <a:xfrm>
            <a:off x="812800" y="5201940"/>
            <a:ext cx="1088339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A99CFA"/>
                </a:solidFill>
                <a:latin typeface="Space Grotesk" pitchFamily="34" charset="0"/>
                <a:ea typeface="Space Grotesk" pitchFamily="34" charset="-122"/>
                <a:cs typeface="Space Grotesk" pitchFamily="34" charset="-120"/>
              </a:rPr>
              <a:t>Thank you — questions?</a:t>
            </a:r>
            <a:endParaRPr lang="en-US" sz="3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A1B5"/>
                </a:solidFill>
                <a:latin typeface="IBM Plex Sans" pitchFamily="34" charset="0"/>
                <a:ea typeface="IBM Plex Sans" pitchFamily="34" charset="-122"/>
                <a:cs typeface="IBM Plex Sans" pitchFamily="34" charset="-120"/>
              </a:rPr>
              <a:t>github.com/SanjayDesai10/Devops-Capstone</a:t>
            </a:r>
            <a:endParaRPr lang="en-US" sz="1200" dirty="0"/>
          </a:p>
        </p:txBody>
      </p:sp>
    </p:spTree>
  </p:cSld>
  <p:clrMapOvr>
    <a:masterClrMapping/>
  </p:clrMapOvr>
</p:sld>
</file>

<file path=ppt/theme/theme1.xml><?xml version="1.0" encoding="utf-8"?>
<a:theme xmlns:a="http://schemas.openxmlformats.org/drawingml/2006/main" name="BookShelf — End-to-End DevOps Capstone">
  <a:themeElements>
    <a:clrScheme name="BookShelf — End-to-End DevOps Capstone">
      <a:dk1>
        <a:srgbClr val="141A2E"/>
      </a:dk1>
      <a:lt1>
        <a:srgbClr val="F5F4EF"/>
      </a:lt1>
      <a:dk2>
        <a:srgbClr val="4C515E"/>
      </a:dk2>
      <a:lt2>
        <a:srgbClr val="DFDEDC"/>
      </a:lt2>
      <a:accent1>
        <a:srgbClr val="5B4BD6"/>
      </a:accent1>
      <a:accent2>
        <a:srgbClr val="A99CFA"/>
      </a:accent2>
      <a:accent3>
        <a:srgbClr val="8B7CF6"/>
      </a:accent3>
      <a:accent4>
        <a:srgbClr val="3D2FB0"/>
      </a:accent4>
      <a:accent5>
        <a:srgbClr val="7A3E0C"/>
      </a:accent5>
      <a:accent6>
        <a:srgbClr val="5A2E08"/>
      </a:accent6>
      <a:hlink>
        <a:srgbClr val="0563C1"/>
      </a:hlink>
      <a:folHlink>
        <a:srgbClr val="954F72"/>
      </a:folHlink>
    </a:clrScheme>
    <a:fontScheme name="BookShelf — End-to-End DevOps Capston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BookShelf — End-to-End DevOps Capstone</dc:title>
  <dc:subject/>
  <dc:creator/>
  <cp:lastModifiedBy/>
  <cp:revision>1</cp:revision>
  <dcterms:created xsi:type="dcterms:W3CDTF">2026-10-16T12:27:32Z</dcterms:created>
  <dcterms:modified xsi:type="dcterms:W3CDTF">2026-10-16T12:27:32Z</dcterms:modified>
</cp:coreProperties>
</file>